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273" r:id="rId6"/>
    <p:sldId id="274" r:id="rId7"/>
    <p:sldId id="275" r:id="rId8"/>
    <p:sldId id="281" r:id="rId9"/>
    <p:sldId id="282" r:id="rId10"/>
    <p:sldId id="276" r:id="rId11"/>
    <p:sldId id="277" r:id="rId12"/>
    <p:sldId id="278" r:id="rId13"/>
    <p:sldId id="279" r:id="rId14"/>
    <p:sldId id="280" r:id="rId15"/>
    <p:sldId id="301" r:id="rId16"/>
    <p:sldId id="302" r:id="rId17"/>
    <p:sldId id="283" r:id="rId18"/>
    <p:sldId id="284" r:id="rId19"/>
    <p:sldId id="300" r:id="rId20"/>
    <p:sldId id="289" r:id="rId21"/>
    <p:sldId id="287" r:id="rId22"/>
    <p:sldId id="285" r:id="rId23"/>
    <p:sldId id="286" r:id="rId24"/>
    <p:sldId id="290" r:id="rId25"/>
    <p:sldId id="291" r:id="rId26"/>
    <p:sldId id="288" r:id="rId27"/>
    <p:sldId id="299" r:id="rId28"/>
    <p:sldId id="293" r:id="rId29"/>
    <p:sldId id="292" r:id="rId30"/>
    <p:sldId id="294" r:id="rId31"/>
    <p:sldId id="295" r:id="rId32"/>
    <p:sldId id="296" r:id="rId33"/>
    <p:sldId id="297" r:id="rId34"/>
    <p:sldId id="298" r:id="rId35"/>
    <p:sldId id="270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 varScale="1">
        <p:scale>
          <a:sx n="61" d="100"/>
          <a:sy n="61" d="100"/>
        </p:scale>
        <p:origin x="988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70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665EB-7873-4273-8D06-8E1A1D25F6A5}" type="datetimeFigureOut">
              <a:rPr lang="ru-RU" smtClean="0"/>
              <a:t>22.03.2022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ABAF9-1C94-442F-84B8-EE3C853CE1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633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0C03616C-1F9D-4836-9B3A-1D49DB0B6C6A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1664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5211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802F-4F00-47C8-B92C-41DCDB82411D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12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21901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20369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924A2-2BF8-495D-92F2-B8F9D22FE743}" type="datetime1">
              <a:rPr lang="ru-RU" smtClean="0"/>
              <a:t>22.03.2022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35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4E73-E584-4511-A051-AA0C2EEBF8F7}" type="datetime1">
              <a:rPr lang="ru-RU" smtClean="0"/>
              <a:t>22.03.2022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7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41586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96F-ACD5-4C6D-8B99-75776F64EE1B}" type="datetime1">
              <a:rPr lang="ru-RU" smtClean="0"/>
              <a:t>22.03.2022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546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0315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14707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47994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50052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85559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33223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A77A-3235-4197-B317-FB1D5B4174B4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698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DBA09-654B-4AAF-814F-CD003329BA42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7800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3B25A-E2E7-4BF5-A828-A969E3D95C46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5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DFDFBB-B7A8-4B94-8B36-FC5414FD1ABF}" type="datetime1">
              <a:rPr lang="ru-RU" smtClean="0"/>
              <a:t>22.03.2022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88E2B2-C038-45D3-BB7C-FE818CA9D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3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nvidia.com/maximizing-unified-memory-performance-cuda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Графические процессоры для вычислений общего назначения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Лекция №</a:t>
            </a:r>
            <a:r>
              <a:rPr lang="en-US" dirty="0"/>
              <a:t>5</a:t>
            </a:r>
            <a:endParaRPr lang="ru-RU" dirty="0"/>
          </a:p>
          <a:p>
            <a:r>
              <a:rPr lang="ru-RU" dirty="0"/>
              <a:t>Управление памятью с помощью </a:t>
            </a:r>
            <a:r>
              <a:rPr lang="en-US" dirty="0"/>
              <a:t>CUDA</a:t>
            </a:r>
            <a:r>
              <a:rPr lang="ru-RU" dirty="0"/>
              <a:t>. Потоки команд </a:t>
            </a:r>
            <a:r>
              <a:rPr lang="en-US" dirty="0"/>
              <a:t>CUDA.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 err="1"/>
              <a:t>Чуканов</a:t>
            </a:r>
            <a:r>
              <a:rPr lang="ru-RU" dirty="0"/>
              <a:t> В.С.</a:t>
            </a:r>
          </a:p>
        </p:txBody>
      </p:sp>
    </p:spTree>
    <p:extLst>
      <p:ext uri="{BB962C8B-B14F-4D97-AF65-F5344CB8AC3E}">
        <p14:creationId xmlns:p14="http://schemas.microsoft.com/office/powerpoint/2010/main" val="272247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432244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GPU </a:t>
            </a:r>
            <a:r>
              <a:rPr lang="ru-RU" dirty="0"/>
              <a:t>для вычислений общего назначения</a:t>
            </a:r>
            <a:endParaRPr lang="en-US" dirty="0"/>
          </a:p>
          <a:p>
            <a:r>
              <a:rPr lang="ru-RU" dirty="0"/>
              <a:t>Выделение памяти с помощью </a:t>
            </a:r>
            <a:r>
              <a:rPr lang="en-US" dirty="0"/>
              <a:t>CUDA</a:t>
            </a:r>
          </a:p>
          <a:p>
            <a:r>
              <a:rPr lang="en-US" dirty="0"/>
              <a:t>Pinned memory</a:t>
            </a:r>
          </a:p>
          <a:p>
            <a:r>
              <a:rPr lang="ru-RU" dirty="0"/>
              <a:t>Потоки команд</a:t>
            </a:r>
          </a:p>
          <a:p>
            <a:r>
              <a:rPr lang="ru-RU" dirty="0"/>
              <a:t>Инструменты </a:t>
            </a:r>
            <a:br>
              <a:rPr lang="ru-RU" dirty="0"/>
            </a:br>
            <a:r>
              <a:rPr lang="ru-RU" dirty="0"/>
              <a:t>синхронизации</a:t>
            </a:r>
          </a:p>
          <a:p>
            <a:r>
              <a:rPr lang="en-US" dirty="0"/>
              <a:t>Unified memory</a:t>
            </a:r>
          </a:p>
          <a:p>
            <a:r>
              <a:rPr lang="ru-RU" dirty="0"/>
              <a:t>Заключение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068960"/>
            <a:ext cx="5391555" cy="189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4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GPU </a:t>
            </a:r>
            <a:r>
              <a:rPr lang="ru-RU" dirty="0"/>
              <a:t>для вычислений Общего назначения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3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683568" y="1417638"/>
            <a:ext cx="4754488" cy="4781128"/>
          </a:xfrm>
        </p:spPr>
        <p:txBody>
          <a:bodyPr>
            <a:normAutofit fontScale="92500"/>
          </a:bodyPr>
          <a:lstStyle/>
          <a:p>
            <a:r>
              <a:rPr lang="ru-RU" dirty="0"/>
              <a:t>Упрощенная модель кеширования</a:t>
            </a:r>
          </a:p>
          <a:p>
            <a:r>
              <a:rPr lang="ru-RU" dirty="0"/>
              <a:t>Параллелизм на уровне данных</a:t>
            </a:r>
          </a:p>
          <a:p>
            <a:pPr lvl="1"/>
            <a:r>
              <a:rPr lang="en-US" dirty="0"/>
              <a:t>SIMD (Single Instruction Multiple Data)</a:t>
            </a:r>
          </a:p>
          <a:p>
            <a:r>
              <a:rPr lang="ru-RU" dirty="0"/>
              <a:t>Множество </a:t>
            </a:r>
            <a:r>
              <a:rPr lang="en-US" dirty="0"/>
              <a:t>ALU</a:t>
            </a:r>
          </a:p>
          <a:p>
            <a:pPr lvl="1"/>
            <a:r>
              <a:rPr lang="ru-RU" dirty="0"/>
              <a:t>Множество исполнительных потоков</a:t>
            </a:r>
          </a:p>
          <a:p>
            <a:r>
              <a:rPr lang="ru-RU" dirty="0"/>
              <a:t>Максимальная эффективность</a:t>
            </a:r>
          </a:p>
          <a:p>
            <a:pPr lvl="1"/>
            <a:r>
              <a:rPr lang="ru-RU" dirty="0"/>
              <a:t>Максимум данных</a:t>
            </a:r>
          </a:p>
          <a:p>
            <a:pPr lvl="1"/>
            <a:r>
              <a:rPr lang="ru-RU" dirty="0"/>
              <a:t>Минимум точек синхронизации</a:t>
            </a:r>
          </a:p>
          <a:p>
            <a:pPr lvl="1"/>
            <a:r>
              <a:rPr lang="ru-RU" dirty="0"/>
              <a:t>Минимум ветвлений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988839"/>
            <a:ext cx="3443901" cy="2295359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1625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GPU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4</a:t>
            </a:fld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00808"/>
            <a:ext cx="7924800" cy="3409724"/>
          </a:xfrm>
        </p:spPr>
      </p:pic>
    </p:spTree>
    <p:extLst>
      <p:ext uri="{BB962C8B-B14F-4D97-AF65-F5344CB8AC3E}">
        <p14:creationId xmlns:p14="http://schemas.microsoft.com/office/powerpoint/2010/main" val="169958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Программа на </a:t>
            </a:r>
            <a:r>
              <a:rPr lang="en-US" dirty="0"/>
              <a:t>GPU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5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Программа на </a:t>
            </a:r>
            <a:r>
              <a:rPr lang="en-US" dirty="0"/>
              <a:t>GPU = Kernel</a:t>
            </a:r>
          </a:p>
          <a:p>
            <a:r>
              <a:rPr lang="ru-RU" dirty="0" err="1"/>
              <a:t>Кернел</a:t>
            </a:r>
            <a:r>
              <a:rPr lang="ru-RU" dirty="0"/>
              <a:t> исполняется параллельно с кодом на </a:t>
            </a:r>
            <a:r>
              <a:rPr lang="en-US" dirty="0"/>
              <a:t>CPU</a:t>
            </a:r>
          </a:p>
          <a:p>
            <a:pPr lvl="1"/>
            <a:r>
              <a:rPr lang="ru-RU" dirty="0"/>
              <a:t>Т.е. вызов является асинхронным</a:t>
            </a:r>
          </a:p>
          <a:p>
            <a:r>
              <a:rPr lang="ru-RU" dirty="0"/>
              <a:t>Запуск </a:t>
            </a:r>
            <a:r>
              <a:rPr lang="ru-RU" dirty="0" err="1"/>
              <a:t>кернела</a:t>
            </a:r>
            <a:r>
              <a:rPr lang="ru-RU" dirty="0"/>
              <a:t> = вызов функции</a:t>
            </a:r>
            <a:endParaRPr lang="en-US" dirty="0"/>
          </a:p>
          <a:p>
            <a:pPr lvl="1"/>
            <a:r>
              <a:rPr lang="en-US" dirty="0" err="1"/>
              <a:t>kernelName</a:t>
            </a:r>
            <a:r>
              <a:rPr lang="en-US" dirty="0"/>
              <a:t> &lt;&lt;&lt; </a:t>
            </a:r>
            <a:r>
              <a:rPr lang="en-US" dirty="0" err="1"/>
              <a:t>gridDim</a:t>
            </a:r>
            <a:r>
              <a:rPr lang="en-US" dirty="0"/>
              <a:t>, </a:t>
            </a:r>
            <a:r>
              <a:rPr lang="en-US" dirty="0" err="1"/>
              <a:t>blockDim</a:t>
            </a:r>
            <a:r>
              <a:rPr lang="en-US" dirty="0"/>
              <a:t>&gt;&gt;&gt; ( input );</a:t>
            </a:r>
            <a:endParaRPr lang="ru-RU" dirty="0"/>
          </a:p>
          <a:p>
            <a:pPr lvl="1"/>
            <a:r>
              <a:rPr lang="en-US" dirty="0" err="1"/>
              <a:t>gridDim</a:t>
            </a:r>
            <a:r>
              <a:rPr lang="en-US" dirty="0"/>
              <a:t>, </a:t>
            </a:r>
            <a:r>
              <a:rPr lang="en-US" dirty="0" err="1"/>
              <a:t>blockDim</a:t>
            </a:r>
            <a:r>
              <a:rPr lang="ru-RU" dirty="0"/>
              <a:t> – параметры, задающие кол-во потоков для исполнения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59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</a:t>
            </a:r>
            <a:r>
              <a:rPr lang="en-US" dirty="0"/>
              <a:t>Kernel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6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Объявление функции-</a:t>
            </a:r>
            <a:r>
              <a:rPr lang="ru-RU" dirty="0" err="1"/>
              <a:t>кернела</a:t>
            </a:r>
            <a:endParaRPr lang="en-US" dirty="0"/>
          </a:p>
          <a:p>
            <a:pPr lvl="1"/>
            <a:r>
              <a:rPr lang="en-US" sz="1800" dirty="0">
                <a:solidFill>
                  <a:srgbClr val="6F008A"/>
                </a:solidFill>
                <a:latin typeface="Consolas"/>
              </a:rPr>
              <a:t>__global__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latin typeface="Consolas"/>
              </a:rPr>
              <a:t>kernelName</a:t>
            </a:r>
            <a:r>
              <a:rPr lang="en-US" sz="1800" dirty="0">
                <a:latin typeface="Consolas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/>
              </a:rPr>
              <a:t>value</a:t>
            </a:r>
            <a:r>
              <a:rPr lang="en-US" sz="1800" dirty="0">
                <a:latin typeface="Consolas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ru-RU" dirty="0"/>
              <a:t>В </a:t>
            </a:r>
            <a:r>
              <a:rPr lang="ru-RU" dirty="0" err="1"/>
              <a:t>кернел</a:t>
            </a:r>
            <a:r>
              <a:rPr lang="ru-RU" dirty="0"/>
              <a:t> нельзя передавать указатель на </a:t>
            </a:r>
            <a:r>
              <a:rPr lang="en-US" dirty="0"/>
              <a:t>CPU </a:t>
            </a:r>
            <a:r>
              <a:rPr lang="ru-RU" dirty="0"/>
              <a:t>память</a:t>
            </a:r>
            <a:endParaRPr lang="en-US" dirty="0"/>
          </a:p>
          <a:p>
            <a:pPr lvl="1"/>
            <a:r>
              <a:rPr lang="ru-RU" dirty="0"/>
              <a:t>Объекты должны быть переданы по значению, не по ссылке</a:t>
            </a:r>
          </a:p>
          <a:p>
            <a:pPr lvl="1"/>
            <a:r>
              <a:rPr lang="ru-RU" dirty="0"/>
              <a:t>Исключение – если данные были выделены в области памяти </a:t>
            </a:r>
            <a:r>
              <a:rPr lang="en-US" dirty="0"/>
              <a:t>GPU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473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8325" y="126501"/>
            <a:ext cx="79248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Выделение памяти с помощью </a:t>
            </a:r>
            <a:r>
              <a:rPr lang="en-US" dirty="0"/>
              <a:t>CUDA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7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971600" y="1340768"/>
            <a:ext cx="7924800" cy="506916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Выделение памяти на </a:t>
            </a:r>
            <a:r>
              <a:rPr lang="en-US" dirty="0"/>
              <a:t>GPU</a:t>
            </a:r>
            <a:endParaRPr lang="ru-RU" dirty="0"/>
          </a:p>
          <a:p>
            <a:pPr lvl="1"/>
            <a:r>
              <a:rPr lang="ru-RU" dirty="0"/>
              <a:t>Выделение глобальной памяти</a:t>
            </a:r>
          </a:p>
          <a:p>
            <a:pPr lvl="1"/>
            <a:r>
              <a:rPr lang="ru-RU" dirty="0"/>
              <a:t>Прямая запись/чтение элементов возможна только из </a:t>
            </a:r>
            <a:r>
              <a:rPr lang="en-US" dirty="0"/>
              <a:t>kernel</a:t>
            </a:r>
            <a:endParaRPr lang="ru-RU" dirty="0"/>
          </a:p>
          <a:p>
            <a:pPr lvl="1"/>
            <a:r>
              <a:rPr lang="en-US" dirty="0" err="1"/>
              <a:t>cudaMalloc</a:t>
            </a:r>
            <a:r>
              <a:rPr lang="en-US" dirty="0"/>
              <a:t>(void **</a:t>
            </a:r>
            <a:r>
              <a:rPr lang="en-US" dirty="0" err="1"/>
              <a:t>dptr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size)</a:t>
            </a:r>
            <a:endParaRPr lang="ru-RU" dirty="0"/>
          </a:p>
          <a:p>
            <a:r>
              <a:rPr lang="ru-RU" dirty="0"/>
              <a:t>Выделение памяти на </a:t>
            </a:r>
            <a:r>
              <a:rPr lang="en-US" dirty="0"/>
              <a:t>GPU </a:t>
            </a:r>
            <a:r>
              <a:rPr lang="ru-RU" dirty="0"/>
              <a:t>для двумерного массива</a:t>
            </a:r>
          </a:p>
          <a:p>
            <a:pPr lvl="1"/>
            <a:r>
              <a:rPr lang="ru-RU" dirty="0"/>
              <a:t>Выделяет память с учетом выравнивания, добавляя байты к каждой «строке»</a:t>
            </a:r>
          </a:p>
          <a:p>
            <a:pPr lvl="1"/>
            <a:r>
              <a:rPr lang="en-US" dirty="0" err="1"/>
              <a:t>cudaMallocPitch</a:t>
            </a:r>
            <a:r>
              <a:rPr lang="en-US" dirty="0"/>
              <a:t> (void **</a:t>
            </a:r>
            <a:r>
              <a:rPr lang="en-US" dirty="0" err="1"/>
              <a:t>devPtr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size_t</a:t>
            </a:r>
            <a:r>
              <a:rPr lang="en-US" dirty="0"/>
              <a:t> *pitch,</a:t>
            </a:r>
            <a:r>
              <a:rPr lang="ru-RU" dirty="0"/>
              <a:t> </a:t>
            </a:r>
            <a:r>
              <a:rPr lang="en-US" dirty="0" err="1"/>
              <a:t>size_t</a:t>
            </a:r>
            <a:r>
              <a:rPr lang="en-US" dirty="0"/>
              <a:t>  width,</a:t>
            </a:r>
            <a:r>
              <a:rPr lang="ru-RU" dirty="0"/>
              <a:t> </a:t>
            </a:r>
            <a:r>
              <a:rPr lang="en-US" dirty="0" err="1"/>
              <a:t>size_t</a:t>
            </a:r>
            <a:r>
              <a:rPr lang="en-US" dirty="0"/>
              <a:t>  height)</a:t>
            </a:r>
            <a:endParaRPr lang="ru-RU" dirty="0"/>
          </a:p>
          <a:p>
            <a:pPr lvl="2"/>
            <a:r>
              <a:rPr lang="en-US" dirty="0"/>
              <a:t>width</a:t>
            </a:r>
            <a:r>
              <a:rPr lang="ru-RU" dirty="0"/>
              <a:t> – запрашиваемый размер строки массива (в байтах)</a:t>
            </a:r>
          </a:p>
          <a:p>
            <a:pPr lvl="2"/>
            <a:r>
              <a:rPr lang="en-US" dirty="0"/>
              <a:t>pitch</a:t>
            </a:r>
            <a:r>
              <a:rPr lang="ru-RU" dirty="0"/>
              <a:t> – реально выделенный размер под строку массива</a:t>
            </a:r>
          </a:p>
          <a:p>
            <a:r>
              <a:rPr lang="ru-RU" dirty="0"/>
              <a:t>Очистка памяти</a:t>
            </a:r>
          </a:p>
          <a:p>
            <a:pPr lvl="1"/>
            <a:r>
              <a:rPr lang="en-US" dirty="0" err="1"/>
              <a:t>cudaFree</a:t>
            </a:r>
            <a:r>
              <a:rPr lang="en-US" dirty="0"/>
              <a:t>(void *</a:t>
            </a:r>
            <a:r>
              <a:rPr lang="en-US" dirty="0" err="1"/>
              <a:t>dptr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132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Выделение невыгружаемой </a:t>
            </a:r>
            <a:r>
              <a:rPr lang="en-US" dirty="0"/>
              <a:t>CPU </a:t>
            </a:r>
            <a:r>
              <a:rPr lang="ru-RU" dirty="0"/>
              <a:t>памяти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8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762000" y="1556792"/>
            <a:ext cx="7924800" cy="4114800"/>
          </a:xfrm>
        </p:spPr>
        <p:txBody>
          <a:bodyPr/>
          <a:lstStyle/>
          <a:p>
            <a:r>
              <a:rPr lang="en-US" dirty="0" err="1"/>
              <a:t>malloc</a:t>
            </a:r>
            <a:r>
              <a:rPr lang="en-US" dirty="0"/>
              <a:t>() / new</a:t>
            </a:r>
          </a:p>
          <a:p>
            <a:pPr lvl="1"/>
            <a:r>
              <a:rPr lang="ru-RU" dirty="0"/>
              <a:t>Выделяют область оперативной памяти</a:t>
            </a:r>
          </a:p>
          <a:p>
            <a:pPr lvl="1"/>
            <a:r>
              <a:rPr lang="ru-RU" dirty="0"/>
              <a:t>ОС может выгрузить часть памяти на жесткий диск (в файл подкачки) если будет необходимость передать ресурсы более приоритетным приложениям</a:t>
            </a:r>
          </a:p>
          <a:p>
            <a:r>
              <a:rPr lang="en-US" dirty="0" err="1"/>
              <a:t>cudaHostAlloc</a:t>
            </a:r>
            <a:r>
              <a:rPr lang="en-US" dirty="0"/>
              <a:t>() / </a:t>
            </a:r>
            <a:r>
              <a:rPr lang="en-US" dirty="0" err="1"/>
              <a:t>cudaMallocHost</a:t>
            </a:r>
            <a:r>
              <a:rPr lang="en-US" dirty="0"/>
              <a:t>()</a:t>
            </a:r>
          </a:p>
          <a:p>
            <a:pPr lvl="1"/>
            <a:r>
              <a:rPr lang="ru-RU" dirty="0"/>
              <a:t>Средства для выделения области невыгружаемой памяти (</a:t>
            </a:r>
            <a:r>
              <a:rPr lang="en-US" dirty="0"/>
              <a:t>pinned memory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Удаление при помощи </a:t>
            </a:r>
            <a:r>
              <a:rPr lang="en-US" dirty="0" err="1"/>
              <a:t>cudaFreeHost</a:t>
            </a:r>
            <a:r>
              <a:rPr lang="en-US" dirty="0"/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656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Механизм передачи данных между </a:t>
            </a:r>
            <a:r>
              <a:rPr lang="en-US" dirty="0"/>
              <a:t>CPU &amp; GPU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9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719572" y="2312876"/>
            <a:ext cx="3600400" cy="129614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33927" y="4257092"/>
            <a:ext cx="3600400" cy="129614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35596" y="4650744"/>
            <a:ext cx="1260140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Pageable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879812" y="4653136"/>
            <a:ext cx="1260140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Pinned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879812" y="2708920"/>
            <a:ext cx="1260140" cy="50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DRAM</a:t>
            </a:r>
            <a:endParaRPr lang="ru-RU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2282099" y="4681630"/>
            <a:ext cx="504056" cy="39365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 flipV="1">
            <a:off x="3296694" y="3284984"/>
            <a:ext cx="450050" cy="126014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680012" y="2312876"/>
            <a:ext cx="3600400" cy="129614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694367" y="4257092"/>
            <a:ext cx="3600400" cy="129614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5852660" y="4653136"/>
            <a:ext cx="1260140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Pinned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5852660" y="2708920"/>
            <a:ext cx="1260140" cy="50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DRAM</a:t>
            </a:r>
            <a:endParaRPr lang="ru-RU" dirty="0"/>
          </a:p>
        </p:txBody>
      </p:sp>
      <p:sp>
        <p:nvSpPr>
          <p:cNvPr id="20" name="Стрелка вниз 19"/>
          <p:cNvSpPr/>
          <p:nvPr/>
        </p:nvSpPr>
        <p:spPr>
          <a:xfrm flipV="1">
            <a:off x="6269542" y="3284984"/>
            <a:ext cx="450050" cy="126014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160621" y="1484784"/>
            <a:ext cx="2361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 *</a:t>
            </a:r>
            <a:r>
              <a:rPr lang="en-US" dirty="0" err="1"/>
              <a:t>src</a:t>
            </a:r>
            <a:r>
              <a:rPr lang="en-US" dirty="0"/>
              <a:t> = new float[size];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896" y="4252308"/>
            <a:ext cx="6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src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739521" y="2312876"/>
            <a:ext cx="6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dst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088992" y="1484784"/>
            <a:ext cx="3011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cudaMallocHost</a:t>
            </a:r>
            <a:r>
              <a:rPr lang="en-US" dirty="0"/>
              <a:t>(&amp;</a:t>
            </a:r>
            <a:r>
              <a:rPr lang="en-US" dirty="0" err="1"/>
              <a:t>src</a:t>
            </a:r>
            <a:r>
              <a:rPr lang="en-US" dirty="0"/>
              <a:t>, </a:t>
            </a:r>
          </a:p>
          <a:p>
            <a:r>
              <a:rPr lang="en-US" dirty="0" err="1"/>
              <a:t>sizeof</a:t>
            </a:r>
            <a:r>
              <a:rPr lang="en-US" dirty="0"/>
              <a:t>(float) * size);</a:t>
            </a:r>
          </a:p>
        </p:txBody>
      </p:sp>
    </p:spTree>
    <p:extLst>
      <p:ext uri="{BB962C8B-B14F-4D97-AF65-F5344CB8AC3E}">
        <p14:creationId xmlns:p14="http://schemas.microsoft.com/office/powerpoint/2010/main" val="411633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памяти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10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762000" y="1578014"/>
            <a:ext cx="7924800" cy="218884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cudaMemcpy</a:t>
            </a:r>
            <a:r>
              <a:rPr lang="en-US" dirty="0"/>
              <a:t> (void *</a:t>
            </a:r>
            <a:r>
              <a:rPr lang="en-US" dirty="0" err="1"/>
              <a:t>dst</a:t>
            </a:r>
            <a:r>
              <a:rPr lang="en-US" dirty="0"/>
              <a:t>, </a:t>
            </a:r>
            <a:r>
              <a:rPr lang="en-US" dirty="0" err="1"/>
              <a:t>const</a:t>
            </a:r>
            <a:r>
              <a:rPr lang="en-US" dirty="0"/>
              <a:t> void *</a:t>
            </a:r>
            <a:r>
              <a:rPr lang="en-US" dirty="0" err="1"/>
              <a:t>src</a:t>
            </a:r>
            <a:r>
              <a:rPr lang="en-US" dirty="0"/>
              <a:t>,  </a:t>
            </a:r>
            <a:br>
              <a:rPr lang="en-US" dirty="0"/>
            </a:br>
            <a:r>
              <a:rPr lang="en-US" dirty="0" err="1"/>
              <a:t>size_t</a:t>
            </a:r>
            <a:r>
              <a:rPr lang="en-US" dirty="0"/>
              <a:t>  count, 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cudaMemcpyKind</a:t>
            </a:r>
            <a:r>
              <a:rPr lang="en-US" dirty="0"/>
              <a:t>  kind) </a:t>
            </a:r>
          </a:p>
          <a:p>
            <a:pPr lvl="1"/>
            <a:r>
              <a:rPr lang="en-US" dirty="0" err="1"/>
              <a:t>dst</a:t>
            </a:r>
            <a:r>
              <a:rPr lang="en-US" dirty="0"/>
              <a:t> – </a:t>
            </a:r>
            <a:r>
              <a:rPr lang="ru-RU" dirty="0"/>
              <a:t>куда копировать</a:t>
            </a:r>
          </a:p>
          <a:p>
            <a:pPr lvl="1"/>
            <a:r>
              <a:rPr lang="en-US" dirty="0" err="1"/>
              <a:t>src</a:t>
            </a:r>
            <a:r>
              <a:rPr lang="ru-RU" dirty="0"/>
              <a:t> – откуда копировать</a:t>
            </a:r>
          </a:p>
          <a:p>
            <a:pPr lvl="1"/>
            <a:r>
              <a:rPr lang="en-US" dirty="0"/>
              <a:t>count</a:t>
            </a:r>
            <a:r>
              <a:rPr lang="ru-RU" dirty="0"/>
              <a:t> – объем памяти для копирования (в байтах)</a:t>
            </a:r>
          </a:p>
          <a:p>
            <a:pPr lvl="1"/>
            <a:r>
              <a:rPr lang="en-US" dirty="0"/>
              <a:t>kind</a:t>
            </a:r>
            <a:r>
              <a:rPr lang="ru-RU" dirty="0"/>
              <a:t> – направление копирования данных</a:t>
            </a:r>
          </a:p>
          <a:p>
            <a:pPr lvl="2"/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878521"/>
              </p:ext>
            </p:extLst>
          </p:nvPr>
        </p:nvGraphicFramePr>
        <p:xfrm>
          <a:off x="611560" y="3933056"/>
          <a:ext cx="7924800" cy="109728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cudaMemcpyHostToHost</a:t>
                      </a:r>
                      <a:r>
                        <a:rPr lang="en-US" dirty="0"/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Host -&gt; Host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cudaMemcpyHostToDevice</a:t>
                      </a:r>
                      <a:r>
                        <a:rPr lang="en-US" dirty="0"/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Host -&gt; Device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i="1"/>
                        <a:t>cudaMemcpyDeviceToHost</a:t>
                      </a:r>
                      <a:r>
                        <a:rPr lang="en-US"/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Device -&gt; Host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i="1"/>
                        <a:t>cudaMemcpyDeviceToDevice</a:t>
                      </a:r>
                      <a:r>
                        <a:rPr lang="en-US"/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Device -&gt; Device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26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231230"/>
            <a:ext cx="7924800" cy="1143000"/>
          </a:xfrm>
        </p:spPr>
        <p:txBody>
          <a:bodyPr/>
          <a:lstStyle/>
          <a:p>
            <a:r>
              <a:rPr lang="ru-RU" dirty="0"/>
              <a:t>Асинхронные операции с памятью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11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827584" y="1556792"/>
            <a:ext cx="7924800" cy="4114800"/>
          </a:xfrm>
        </p:spPr>
        <p:txBody>
          <a:bodyPr/>
          <a:lstStyle/>
          <a:p>
            <a:r>
              <a:rPr lang="en-US" dirty="0" err="1"/>
              <a:t>cudaMemcpy</a:t>
            </a:r>
            <a:endParaRPr lang="en-US" dirty="0"/>
          </a:p>
          <a:p>
            <a:pPr lvl="1"/>
            <a:r>
              <a:rPr lang="ru-RU" dirty="0"/>
              <a:t>Синхронное копирование памяти – ожидает исполнения предыдущих операций</a:t>
            </a:r>
            <a:endParaRPr lang="en-US" dirty="0"/>
          </a:p>
          <a:p>
            <a:pPr lvl="1"/>
            <a:r>
              <a:rPr lang="en-US" dirty="0"/>
              <a:t>CPU </a:t>
            </a:r>
            <a:r>
              <a:rPr lang="ru-RU" dirty="0"/>
              <a:t>ожидает окончания исполнения команд на </a:t>
            </a:r>
            <a:r>
              <a:rPr lang="en-US" dirty="0"/>
              <a:t>GPU</a:t>
            </a:r>
            <a:endParaRPr lang="ru-RU" dirty="0"/>
          </a:p>
          <a:p>
            <a:r>
              <a:rPr lang="en-US" dirty="0" err="1"/>
              <a:t>cudaMemcpyAsync</a:t>
            </a:r>
            <a:endParaRPr lang="en-US" dirty="0"/>
          </a:p>
          <a:p>
            <a:pPr lvl="1"/>
            <a:r>
              <a:rPr lang="ru-RU" dirty="0"/>
              <a:t>Асинхронное выполнение команды копирования</a:t>
            </a:r>
          </a:p>
          <a:p>
            <a:pPr lvl="1"/>
            <a:r>
              <a:rPr lang="ru-RU" dirty="0"/>
              <a:t>Управление </a:t>
            </a:r>
            <a:r>
              <a:rPr lang="en-US" dirty="0"/>
              <a:t>CPU </a:t>
            </a:r>
            <a:r>
              <a:rPr lang="ru-RU" dirty="0"/>
              <a:t>возвращается раньше, чем завершится копирование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605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231230"/>
            <a:ext cx="79248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Асинхронные операции с памятью (2)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12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899592" y="1556792"/>
            <a:ext cx="7924800" cy="411480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Копирование </a:t>
            </a:r>
            <a:r>
              <a:rPr lang="en-US" dirty="0"/>
              <a:t>pitched memory</a:t>
            </a:r>
            <a:endParaRPr lang="ru-RU" dirty="0"/>
          </a:p>
          <a:p>
            <a:pPr lvl="1"/>
            <a:r>
              <a:rPr lang="en-US" dirty="0"/>
              <a:t>cudaMemcpy2DAsync 	(void *</a:t>
            </a:r>
            <a:r>
              <a:rPr lang="en-US" dirty="0" err="1"/>
              <a:t>dst</a:t>
            </a:r>
            <a:r>
              <a:rPr lang="en-US" dirty="0"/>
              <a:t>,</a:t>
            </a:r>
            <a:br>
              <a:rPr lang="ru-RU" dirty="0"/>
            </a:br>
            <a:r>
              <a:rPr lang="en-US" dirty="0"/>
              <a:t>		</a:t>
            </a:r>
            <a:r>
              <a:rPr lang="en-US" dirty="0" err="1"/>
              <a:t>size_t</a:t>
            </a:r>
            <a:r>
              <a:rPr lang="en-US" dirty="0"/>
              <a:t>  	</a:t>
            </a:r>
            <a:r>
              <a:rPr lang="en-US" dirty="0" err="1"/>
              <a:t>dpitch</a:t>
            </a:r>
            <a:r>
              <a:rPr lang="en-US" dirty="0"/>
              <a:t>,</a:t>
            </a:r>
            <a:br>
              <a:rPr lang="ru-RU" dirty="0"/>
            </a:br>
            <a:r>
              <a:rPr lang="en-US" dirty="0"/>
              <a:t>		</a:t>
            </a:r>
            <a:r>
              <a:rPr lang="en-US" dirty="0" err="1"/>
              <a:t>const</a:t>
            </a:r>
            <a:r>
              <a:rPr lang="en-US" dirty="0"/>
              <a:t> void *  	</a:t>
            </a:r>
            <a:r>
              <a:rPr lang="en-US" dirty="0" err="1"/>
              <a:t>src</a:t>
            </a:r>
            <a:r>
              <a:rPr lang="en-US" dirty="0"/>
              <a:t>,</a:t>
            </a:r>
            <a:br>
              <a:rPr lang="ru-RU" dirty="0"/>
            </a:br>
            <a:r>
              <a:rPr lang="en-US" dirty="0"/>
              <a:t>		</a:t>
            </a:r>
            <a:r>
              <a:rPr lang="en-US" dirty="0" err="1"/>
              <a:t>size_t</a:t>
            </a:r>
            <a:r>
              <a:rPr lang="en-US" dirty="0"/>
              <a:t>  	</a:t>
            </a:r>
            <a:r>
              <a:rPr lang="en-US" dirty="0" err="1"/>
              <a:t>spitch</a:t>
            </a:r>
            <a:r>
              <a:rPr lang="en-US" dirty="0"/>
              <a:t>,</a:t>
            </a:r>
            <a:br>
              <a:rPr lang="ru-RU" dirty="0"/>
            </a:br>
            <a:r>
              <a:rPr lang="en-US" dirty="0"/>
              <a:t>		</a:t>
            </a:r>
            <a:r>
              <a:rPr lang="en-US" dirty="0" err="1"/>
              <a:t>size_t</a:t>
            </a:r>
            <a:r>
              <a:rPr lang="en-US" dirty="0"/>
              <a:t>  	width,</a:t>
            </a:r>
            <a:br>
              <a:rPr lang="ru-RU" dirty="0"/>
            </a:br>
            <a:r>
              <a:rPr lang="en-US" dirty="0"/>
              <a:t>		</a:t>
            </a:r>
            <a:r>
              <a:rPr lang="en-US" dirty="0" err="1"/>
              <a:t>size_t</a:t>
            </a:r>
            <a:r>
              <a:rPr lang="en-US" dirty="0"/>
              <a:t>  	height,</a:t>
            </a:r>
            <a:br>
              <a:rPr lang="ru-RU" dirty="0"/>
            </a:br>
            <a:r>
              <a:rPr lang="en-US" dirty="0"/>
              <a:t>		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cudaMemcpyKind</a:t>
            </a:r>
            <a:r>
              <a:rPr lang="en-US" dirty="0"/>
              <a:t>  	kind,</a:t>
            </a:r>
            <a:br>
              <a:rPr lang="ru-RU" dirty="0"/>
            </a:br>
            <a:r>
              <a:rPr lang="en-US" dirty="0"/>
              <a:t>		</a:t>
            </a:r>
            <a:r>
              <a:rPr lang="en-US" dirty="0" err="1"/>
              <a:t>cudaStream_t</a:t>
            </a:r>
            <a:r>
              <a:rPr lang="en-US" dirty="0"/>
              <a:t>  	stream =</a:t>
            </a:r>
            <a:r>
              <a:rPr lang="ru-RU" dirty="0"/>
              <a:t> 0)</a:t>
            </a:r>
          </a:p>
          <a:p>
            <a:r>
              <a:rPr lang="en-US" dirty="0" err="1"/>
              <a:t>cudaStream_t</a:t>
            </a:r>
            <a:r>
              <a:rPr lang="en-US" dirty="0"/>
              <a:t>  stream</a:t>
            </a:r>
          </a:p>
          <a:p>
            <a:pPr lvl="1"/>
            <a:r>
              <a:rPr lang="ru-RU" dirty="0"/>
              <a:t>Поток/очередь исполнения команд </a:t>
            </a:r>
            <a:r>
              <a:rPr lang="en-US" dirty="0"/>
              <a:t>GPU</a:t>
            </a:r>
          </a:p>
          <a:p>
            <a:r>
              <a:rPr lang="ru-RU" dirty="0"/>
              <a:t>Команды одной очереди (и дефолтной тоже) </a:t>
            </a:r>
            <a:r>
              <a:rPr lang="ru-RU" i="1" dirty="0"/>
              <a:t>всегда</a:t>
            </a:r>
            <a:r>
              <a:rPr lang="ru-RU" dirty="0"/>
              <a:t> вызываются последовательно</a:t>
            </a:r>
          </a:p>
        </p:txBody>
      </p:sp>
    </p:spTree>
    <p:extLst>
      <p:ext uri="{BB962C8B-B14F-4D97-AF65-F5344CB8AC3E}">
        <p14:creationId xmlns:p14="http://schemas.microsoft.com/office/powerpoint/2010/main" val="1360301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 исполнения команд </a:t>
            </a:r>
            <a:r>
              <a:rPr lang="en-US" dirty="0"/>
              <a:t>GPU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13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827584" y="2001270"/>
            <a:ext cx="79248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CPU </a:t>
            </a:r>
            <a:r>
              <a:rPr lang="ru-RU" dirty="0"/>
              <a:t>составляет очередь запросов для </a:t>
            </a:r>
            <a:r>
              <a:rPr lang="en-US" dirty="0"/>
              <a:t>GPU </a:t>
            </a:r>
            <a:endParaRPr lang="ru-RU" dirty="0"/>
          </a:p>
          <a:p>
            <a:pPr lvl="1"/>
            <a:r>
              <a:rPr lang="ru-RU" dirty="0"/>
              <a:t>Скопировать данные </a:t>
            </a:r>
            <a:r>
              <a:rPr lang="en-US" dirty="0"/>
              <a:t>CPU-&gt;GPU</a:t>
            </a:r>
          </a:p>
          <a:p>
            <a:pPr lvl="1"/>
            <a:r>
              <a:rPr lang="ru-RU" dirty="0"/>
              <a:t>Выполнить </a:t>
            </a:r>
            <a:r>
              <a:rPr lang="en-US" dirty="0"/>
              <a:t>kernel</a:t>
            </a:r>
          </a:p>
          <a:p>
            <a:pPr lvl="1"/>
            <a:r>
              <a:rPr lang="ru-RU" dirty="0"/>
              <a:t>Скопировать данные </a:t>
            </a:r>
            <a:r>
              <a:rPr lang="en-US" dirty="0"/>
              <a:t>GPU-&gt;CPU</a:t>
            </a:r>
          </a:p>
          <a:p>
            <a:r>
              <a:rPr lang="en-US" dirty="0" err="1"/>
              <a:t>cudaStream_t</a:t>
            </a:r>
            <a:r>
              <a:rPr lang="en-US" dirty="0"/>
              <a:t> - </a:t>
            </a:r>
            <a:r>
              <a:rPr lang="ru-RU" dirty="0"/>
              <a:t>очередь запросов, поток исполнения команд</a:t>
            </a:r>
          </a:p>
          <a:p>
            <a:pPr lvl="1"/>
            <a:r>
              <a:rPr lang="ru-RU" dirty="0"/>
              <a:t>Существует поток по умолчанию (</a:t>
            </a:r>
            <a:r>
              <a:rPr lang="en-US" dirty="0"/>
              <a:t>null stream</a:t>
            </a:r>
            <a:r>
              <a:rPr lang="ru-RU" dirty="0"/>
              <a:t>)</a:t>
            </a:r>
          </a:p>
          <a:p>
            <a:pPr lvl="1"/>
            <a:r>
              <a:rPr lang="en-US" dirty="0" err="1"/>
              <a:t>cudaStream_t</a:t>
            </a:r>
            <a:r>
              <a:rPr lang="en-US" dirty="0"/>
              <a:t> stream1; </a:t>
            </a:r>
            <a:endParaRPr lang="ru-RU" dirty="0"/>
          </a:p>
          <a:p>
            <a:pPr lvl="1"/>
            <a:r>
              <a:rPr lang="en-US" dirty="0" err="1"/>
              <a:t>cudaError_t</a:t>
            </a:r>
            <a:r>
              <a:rPr lang="en-US" dirty="0"/>
              <a:t> result; </a:t>
            </a:r>
            <a:endParaRPr lang="ru-RU" dirty="0"/>
          </a:p>
          <a:p>
            <a:pPr lvl="1"/>
            <a:r>
              <a:rPr lang="en-US" dirty="0"/>
              <a:t>result = </a:t>
            </a:r>
            <a:r>
              <a:rPr lang="en-US" dirty="0" err="1"/>
              <a:t>cudaStreamCreate</a:t>
            </a:r>
            <a:r>
              <a:rPr lang="en-US" dirty="0"/>
              <a:t>(&amp;stream1)</a:t>
            </a:r>
            <a:r>
              <a:rPr lang="ru-RU" dirty="0"/>
              <a:t>;</a:t>
            </a:r>
          </a:p>
          <a:p>
            <a:pPr lvl="1"/>
            <a:r>
              <a:rPr lang="en-US" dirty="0"/>
              <a:t>result = </a:t>
            </a:r>
            <a:r>
              <a:rPr lang="en-US" dirty="0" err="1"/>
              <a:t>cudaStreamDestroy</a:t>
            </a:r>
            <a:r>
              <a:rPr lang="en-US" dirty="0"/>
              <a:t>(stream1)</a:t>
            </a:r>
            <a:r>
              <a:rPr lang="ru-RU" dirty="0"/>
              <a:t>;</a:t>
            </a:r>
          </a:p>
          <a:p>
            <a:pPr lvl="1"/>
            <a:endParaRPr lang="ru-RU" dirty="0"/>
          </a:p>
          <a:p>
            <a:pPr lvl="1"/>
            <a:endParaRPr lang="en-US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3483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Асинхронное исполнение операций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14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899592" y="1556792"/>
            <a:ext cx="7924800" cy="4114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Kernel </a:t>
            </a:r>
            <a:r>
              <a:rPr lang="ru-RU" dirty="0"/>
              <a:t>по умолчанию выполняется асинхронно с кодом </a:t>
            </a:r>
            <a:r>
              <a:rPr lang="en-US" dirty="0"/>
              <a:t>CPU </a:t>
            </a:r>
            <a:endParaRPr lang="ru-RU" dirty="0"/>
          </a:p>
          <a:p>
            <a:pPr lvl="1"/>
            <a:r>
              <a:rPr lang="en-US" dirty="0" err="1"/>
              <a:t>cudaMemcpy</a:t>
            </a:r>
            <a:r>
              <a:rPr lang="en-US" dirty="0"/>
              <a:t>(</a:t>
            </a:r>
            <a:r>
              <a:rPr lang="en-US" dirty="0" err="1"/>
              <a:t>d_a</a:t>
            </a:r>
            <a:r>
              <a:rPr lang="en-US" dirty="0"/>
              <a:t>, a, </a:t>
            </a:r>
            <a:r>
              <a:rPr lang="en-US" dirty="0" err="1"/>
              <a:t>numBytes</a:t>
            </a:r>
            <a:r>
              <a:rPr lang="en-US" dirty="0"/>
              <a:t>, </a:t>
            </a:r>
            <a:r>
              <a:rPr lang="en-US" dirty="0" err="1"/>
              <a:t>cudaMemcpyHostToDevice</a:t>
            </a:r>
            <a:r>
              <a:rPr lang="en-US" dirty="0"/>
              <a:t>);</a:t>
            </a:r>
          </a:p>
          <a:p>
            <a:pPr lvl="1"/>
            <a:r>
              <a:rPr lang="en-US" i="1" dirty="0"/>
              <a:t>increment</a:t>
            </a:r>
            <a:r>
              <a:rPr lang="en-US" dirty="0"/>
              <a:t> &lt;&lt;&lt;1, </a:t>
            </a:r>
            <a:r>
              <a:rPr lang="en-US" i="1" dirty="0"/>
              <a:t>N</a:t>
            </a:r>
            <a:r>
              <a:rPr lang="en-US" dirty="0"/>
              <a:t> &gt;&gt;&gt;(</a:t>
            </a:r>
            <a:r>
              <a:rPr lang="en-US" dirty="0" err="1"/>
              <a:t>d_a</a:t>
            </a:r>
            <a:r>
              <a:rPr lang="en-US" dirty="0"/>
              <a:t>)</a:t>
            </a:r>
            <a:r>
              <a:rPr lang="ru-RU" dirty="0"/>
              <a:t>;</a:t>
            </a:r>
            <a:endParaRPr lang="en-US" dirty="0"/>
          </a:p>
          <a:p>
            <a:pPr lvl="1"/>
            <a:r>
              <a:rPr lang="en-US" dirty="0" err="1"/>
              <a:t>myCpuFunction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dirty="0"/>
              <a:t>)</a:t>
            </a:r>
            <a:r>
              <a:rPr lang="ru-RU" dirty="0"/>
              <a:t>;</a:t>
            </a:r>
            <a:endParaRPr lang="en-US" dirty="0"/>
          </a:p>
          <a:p>
            <a:pPr lvl="1"/>
            <a:r>
              <a:rPr lang="en-US" dirty="0" err="1"/>
              <a:t>cudaMemcpy</a:t>
            </a:r>
            <a:r>
              <a:rPr lang="en-US" dirty="0"/>
              <a:t>(a, </a:t>
            </a:r>
            <a:r>
              <a:rPr lang="en-US" dirty="0" err="1"/>
              <a:t>d_a</a:t>
            </a:r>
            <a:r>
              <a:rPr lang="en-US" dirty="0"/>
              <a:t>, </a:t>
            </a:r>
            <a:r>
              <a:rPr lang="en-US" dirty="0" err="1"/>
              <a:t>numBytes</a:t>
            </a:r>
            <a:r>
              <a:rPr lang="en-US" dirty="0"/>
              <a:t>, </a:t>
            </a:r>
            <a:r>
              <a:rPr lang="en-US" dirty="0" err="1"/>
              <a:t>cudaMemcpyDeviceToHost</a:t>
            </a:r>
            <a:r>
              <a:rPr lang="en-US" dirty="0"/>
              <a:t>);</a:t>
            </a:r>
            <a:endParaRPr lang="ru-RU" dirty="0"/>
          </a:p>
          <a:p>
            <a:pPr marL="342900" lvl="1" indent="-342900"/>
            <a:r>
              <a:rPr lang="en-US" i="1" dirty="0"/>
              <a:t>increment</a:t>
            </a:r>
            <a:r>
              <a:rPr lang="en-US" dirty="0"/>
              <a:t> &lt;&lt;&lt;1, </a:t>
            </a:r>
            <a:r>
              <a:rPr lang="en-US" i="1" dirty="0"/>
              <a:t>N</a:t>
            </a:r>
            <a:r>
              <a:rPr lang="en-US" dirty="0"/>
              <a:t> &gt;&gt;&gt;(</a:t>
            </a:r>
            <a:r>
              <a:rPr lang="en-US" dirty="0" err="1"/>
              <a:t>d_a</a:t>
            </a:r>
            <a:r>
              <a:rPr lang="en-US" dirty="0"/>
              <a:t>)</a:t>
            </a:r>
            <a:r>
              <a:rPr lang="ru-RU" dirty="0"/>
              <a:t>  выполняется параллельно с </a:t>
            </a:r>
            <a:r>
              <a:rPr lang="en-US" dirty="0" err="1"/>
              <a:t>myCpuFunction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dirty="0"/>
              <a:t>)</a:t>
            </a:r>
          </a:p>
          <a:p>
            <a:pPr marL="342900" lvl="1" indent="-342900"/>
            <a:r>
              <a:rPr lang="ru-RU" dirty="0"/>
              <a:t>Операции на </a:t>
            </a:r>
            <a:r>
              <a:rPr lang="en-US" dirty="0"/>
              <a:t>GPU </a:t>
            </a:r>
            <a:r>
              <a:rPr lang="ru-RU" dirty="0"/>
              <a:t>выполняются последовательно</a:t>
            </a:r>
          </a:p>
          <a:p>
            <a:pPr marL="800100" lvl="2" indent="-342900"/>
            <a:r>
              <a:rPr lang="ru-RU" dirty="0"/>
              <a:t>Нет нужды в </a:t>
            </a:r>
            <a:r>
              <a:rPr lang="en-US" dirty="0" err="1"/>
              <a:t>cudaDeviceSynchronize</a:t>
            </a:r>
            <a:r>
              <a:rPr lang="en-US" dirty="0"/>
              <a:t>() </a:t>
            </a:r>
            <a:r>
              <a:rPr lang="ru-RU" dirty="0"/>
              <a:t>перед </a:t>
            </a:r>
            <a:r>
              <a:rPr lang="en-US" dirty="0" err="1"/>
              <a:t>cudaMemcpy</a:t>
            </a:r>
            <a:r>
              <a:rPr lang="ru-RU" dirty="0"/>
              <a:t>, например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1274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7176A-9675-4B69-86E6-9F0D515B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Проверка свойств </a:t>
            </a:r>
            <a:r>
              <a:rPr lang="en-US" dirty="0"/>
              <a:t>CUDA </a:t>
            </a:r>
            <a:r>
              <a:rPr lang="ru-RU" dirty="0"/>
              <a:t>устройства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AB14AA-B04C-46A5-9A72-101B981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540BC-3ABF-4AB4-86F1-3ED928976894}"/>
              </a:ext>
            </a:extLst>
          </p:cNvPr>
          <p:cNvSpPr txBox="1"/>
          <p:nvPr/>
        </p:nvSpPr>
        <p:spPr>
          <a:xfrm>
            <a:off x="719064" y="1628800"/>
            <a:ext cx="842493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cudaError_t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printDeviceStats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deviceCount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cudaGetDeviceCount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deviceCount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device = 0; device &lt; deviceCount; ++device)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cudaDeviceProp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deviceProp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600" dirty="0">
                <a:solidFill>
                  <a:srgbClr val="2B91AF"/>
                </a:solidFill>
                <a:latin typeface="Consolas" panose="020B0609020204030204" pitchFamily="49" charset="0"/>
              </a:rPr>
              <a:t>cudaError_t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status = cudaGetDeviceProperties(&amp;deviceProp, device);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(status != </a:t>
            </a:r>
            <a:r>
              <a:rPr lang="en-US" sz="1600" dirty="0" err="1">
                <a:solidFill>
                  <a:srgbClr val="2F4F4F"/>
                </a:solidFill>
                <a:latin typeface="Consolas" panose="020B0609020204030204" pitchFamily="49" charset="0"/>
              </a:rPr>
              <a:t>cudaSuccess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status;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std::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ostringstream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"Device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device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 has: compute capability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deviceProp.major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"."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deviceProp.minor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"; Number of engines: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deviceProp.asyncEngineCount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stringStream.str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F4F4F"/>
                </a:solidFill>
                <a:latin typeface="Consolas" panose="020B0609020204030204" pitchFamily="49" charset="0"/>
              </a:rPr>
              <a:t>cudaSuccess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/>
          </a:p>
        </p:txBody>
      </p:sp>
      <p:sp>
        <p:nvSpPr>
          <p:cNvPr id="7" name="Стрелка: вниз 6">
            <a:extLst>
              <a:ext uri="{FF2B5EF4-FFF2-40B4-BE49-F238E27FC236}">
                <a16:creationId xmlns:a16="http://schemas.microsoft.com/office/drawing/2014/main" id="{AA490476-F960-41E9-B926-B2764F8C8AD2}"/>
              </a:ext>
            </a:extLst>
          </p:cNvPr>
          <p:cNvSpPr/>
          <p:nvPr/>
        </p:nvSpPr>
        <p:spPr>
          <a:xfrm rot="6766402">
            <a:off x="5530460" y="5212371"/>
            <a:ext cx="432048" cy="648072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B129D99-DFDA-4F1A-BC27-A0DB06A41370}"/>
              </a:ext>
            </a:extLst>
          </p:cNvPr>
          <p:cNvSpPr/>
          <p:nvPr/>
        </p:nvSpPr>
        <p:spPr>
          <a:xfrm>
            <a:off x="6012160" y="5589240"/>
            <a:ext cx="1944216" cy="81009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&gt;= 2 </a:t>
            </a:r>
            <a:r>
              <a:rPr lang="ru-RU" dirty="0"/>
              <a:t>для параллельных </a:t>
            </a:r>
            <a:r>
              <a:rPr lang="en-US" dirty="0"/>
              <a:t>h2d/d2h copy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206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07B31-95A1-4E71-A897-0EB51ED1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asyncEngineCount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D8B20A-D419-4554-ABF0-500754A8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16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195FE3-4D35-4EE7-8018-4B8DAB5898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63711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Отвечает за количество физических контроллеров передачи данных</a:t>
            </a:r>
          </a:p>
          <a:p>
            <a:r>
              <a:rPr lang="ru-RU" dirty="0"/>
              <a:t>Если </a:t>
            </a:r>
            <a:r>
              <a:rPr lang="en-US" dirty="0"/>
              <a:t>&gt;= 2</a:t>
            </a:r>
            <a:r>
              <a:rPr lang="ru-RU" dirty="0"/>
              <a:t>, то есть возможность запускать параллельно</a:t>
            </a:r>
          </a:p>
          <a:p>
            <a:pPr lvl="1"/>
            <a:r>
              <a:rPr lang="ru-RU" dirty="0"/>
              <a:t>1 операцию передачи данных с </a:t>
            </a:r>
            <a:r>
              <a:rPr lang="en-US" dirty="0"/>
              <a:t>host </a:t>
            </a:r>
            <a:r>
              <a:rPr lang="ru-RU" dirty="0"/>
              <a:t>на </a:t>
            </a:r>
            <a:r>
              <a:rPr lang="en-US" dirty="0"/>
              <a:t>device</a:t>
            </a:r>
          </a:p>
          <a:p>
            <a:pPr lvl="1"/>
            <a:r>
              <a:rPr lang="en-US" dirty="0"/>
              <a:t>1 </a:t>
            </a:r>
            <a:r>
              <a:rPr lang="ru-RU" dirty="0"/>
              <a:t>операцию передачи данных с </a:t>
            </a:r>
            <a:r>
              <a:rPr lang="en-US" dirty="0"/>
              <a:t>device </a:t>
            </a:r>
            <a:r>
              <a:rPr lang="ru-RU" dirty="0"/>
              <a:t>на </a:t>
            </a:r>
            <a:r>
              <a:rPr lang="en-US" dirty="0"/>
              <a:t>host</a:t>
            </a:r>
          </a:p>
          <a:p>
            <a:pPr lvl="1"/>
            <a:r>
              <a:rPr lang="ru-RU" dirty="0"/>
              <a:t>Разумеется, </a:t>
            </a:r>
            <a:r>
              <a:rPr lang="en-US" dirty="0"/>
              <a:t>kernel</a:t>
            </a:r>
          </a:p>
          <a:p>
            <a:r>
              <a:rPr lang="en-US" dirty="0"/>
              <a:t>GTX 1070</a:t>
            </a:r>
          </a:p>
          <a:p>
            <a:pPr lvl="1"/>
            <a:r>
              <a:rPr lang="en-US" dirty="0" err="1"/>
              <a:t>asyncEngineCount</a:t>
            </a:r>
            <a:r>
              <a:rPr lang="en-US" dirty="0"/>
              <a:t> == 5</a:t>
            </a:r>
          </a:p>
          <a:p>
            <a:pPr lvl="2"/>
            <a:r>
              <a:rPr lang="en-US" dirty="0"/>
              <a:t>???</a:t>
            </a:r>
          </a:p>
          <a:p>
            <a:pPr lvl="1"/>
            <a:r>
              <a:rPr lang="en-US" dirty="0"/>
              <a:t>5 – </a:t>
            </a:r>
            <a:r>
              <a:rPr lang="ru-RU" dirty="0"/>
              <a:t>Означает возможность передачи данных также параллельно остальным передачам по </a:t>
            </a:r>
            <a:r>
              <a:rPr lang="en-US" dirty="0" err="1"/>
              <a:t>NVLink</a:t>
            </a:r>
            <a:endParaRPr lang="en-US" dirty="0"/>
          </a:p>
          <a:p>
            <a:pPr lvl="2"/>
            <a:r>
              <a:rPr lang="ru-RU" dirty="0"/>
              <a:t>Например, между </a:t>
            </a:r>
            <a:r>
              <a:rPr lang="en-US" dirty="0"/>
              <a:t>GPU </a:t>
            </a:r>
            <a:r>
              <a:rPr lang="ru-RU" dirty="0"/>
              <a:t>напрямую</a:t>
            </a:r>
          </a:p>
        </p:txBody>
      </p:sp>
    </p:spTree>
    <p:extLst>
      <p:ext uri="{BB962C8B-B14F-4D97-AF65-F5344CB8AC3E}">
        <p14:creationId xmlns:p14="http://schemas.microsoft.com/office/powerpoint/2010/main" val="93855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Асинхронное исполнение Операций на </a:t>
            </a:r>
            <a:r>
              <a:rPr lang="en-US" dirty="0"/>
              <a:t>GPU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17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933128" y="1528192"/>
            <a:ext cx="7924800" cy="132474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Копирования памяти </a:t>
            </a:r>
            <a:r>
              <a:rPr lang="en-US" dirty="0"/>
              <a:t>CPU =&gt; GPU, GPU =&gt; CPU </a:t>
            </a:r>
            <a:r>
              <a:rPr lang="ru-RU" dirty="0"/>
              <a:t>исполнены параллельно с </a:t>
            </a:r>
            <a:r>
              <a:rPr lang="en-US" dirty="0"/>
              <a:t>kernel</a:t>
            </a:r>
            <a:endParaRPr lang="ru-RU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CPU</a:t>
            </a:r>
            <a:r>
              <a:rPr lang="ru-RU" b="1" dirty="0">
                <a:solidFill>
                  <a:srgbClr val="FF0000"/>
                </a:solidFill>
              </a:rPr>
              <a:t> память должна быть </a:t>
            </a:r>
            <a:r>
              <a:rPr lang="en-US" b="1" dirty="0">
                <a:solidFill>
                  <a:srgbClr val="FF0000"/>
                </a:solidFill>
              </a:rPr>
              <a:t>PINNED!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Default-stream</a:t>
            </a:r>
            <a:r>
              <a:rPr lang="ru-RU" b="1" dirty="0">
                <a:solidFill>
                  <a:srgbClr val="FF0000"/>
                </a:solidFill>
              </a:rPr>
              <a:t> исполнения не должен быть использован!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863080" y="2852936"/>
            <a:ext cx="82809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nStreams; ++i) {</a:t>
            </a:r>
          </a:p>
          <a:p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offset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cudaMemcpyAsync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d_a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[offset], &amp;a[offset],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streamBytes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cudaMemcpyHostToDevice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stream[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kernel &lt;&lt;&lt;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blockSize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blockSize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0, stream[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&gt;&gt;&gt;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d_a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offset);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cudaMemcpyAsync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(&amp;a[offset], &amp;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d_a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[offset],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streamBytes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cudaMemcpyDeviceToHost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stream[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0474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Асинхронное исполнение Операций на </a:t>
            </a:r>
            <a:r>
              <a:rPr lang="en-US" dirty="0"/>
              <a:t>GPU: </a:t>
            </a:r>
            <a:r>
              <a:rPr lang="ru-RU" dirty="0" err="1"/>
              <a:t>Профайлинг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18</a:t>
            </a:fld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26" y="3645024"/>
            <a:ext cx="8022774" cy="2438835"/>
          </a:xfrm>
        </p:spPr>
      </p:pic>
      <p:sp>
        <p:nvSpPr>
          <p:cNvPr id="6" name="Объект 3">
            <a:extLst>
              <a:ext uri="{FF2B5EF4-FFF2-40B4-BE49-F238E27FC236}">
                <a16:creationId xmlns:a16="http://schemas.microsoft.com/office/drawing/2014/main" id="{DFBBCD02-FDFC-463E-9663-DECC67D21C35}"/>
              </a:ext>
            </a:extLst>
          </p:cNvPr>
          <p:cNvSpPr txBox="1">
            <a:spLocks/>
          </p:cNvSpPr>
          <p:nvPr/>
        </p:nvSpPr>
        <p:spPr>
          <a:xfrm>
            <a:off x="726134" y="1628800"/>
            <a:ext cx="7924800" cy="1984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PCIe </a:t>
            </a:r>
            <a:r>
              <a:rPr lang="ru-RU" dirty="0"/>
              <a:t>и </a:t>
            </a:r>
            <a:r>
              <a:rPr lang="en-US" dirty="0"/>
              <a:t>DMA</a:t>
            </a:r>
            <a:endParaRPr lang="ru-RU" dirty="0"/>
          </a:p>
          <a:p>
            <a:pPr lvl="1"/>
            <a:r>
              <a:rPr lang="en-US" dirty="0"/>
              <a:t>DMA – direct memory access</a:t>
            </a:r>
          </a:p>
          <a:p>
            <a:pPr lvl="1"/>
            <a:r>
              <a:rPr lang="ru-RU" dirty="0"/>
              <a:t>Каждое </a:t>
            </a:r>
            <a:r>
              <a:rPr lang="en-US" dirty="0"/>
              <a:t>PCIe </a:t>
            </a:r>
            <a:r>
              <a:rPr lang="ru-RU" dirty="0"/>
              <a:t>устройство может использовать </a:t>
            </a:r>
            <a:r>
              <a:rPr lang="en-US" dirty="0"/>
              <a:t>RAM </a:t>
            </a:r>
            <a:r>
              <a:rPr lang="ru-RU" dirty="0"/>
              <a:t>память</a:t>
            </a:r>
            <a:endParaRPr lang="en-US" dirty="0"/>
          </a:p>
          <a:p>
            <a:pPr lvl="1"/>
            <a:r>
              <a:rPr lang="ru-RU" dirty="0"/>
              <a:t>Результат – возможность асинхронной (к </a:t>
            </a:r>
            <a:r>
              <a:rPr lang="en-US" dirty="0"/>
              <a:t>CPU)</a:t>
            </a:r>
            <a:r>
              <a:rPr lang="ru-RU" dirty="0"/>
              <a:t> передачи данных в/из </a:t>
            </a:r>
            <a:r>
              <a:rPr lang="en-US" dirty="0"/>
              <a:t>RAM</a:t>
            </a:r>
            <a:r>
              <a:rPr lang="ru-RU" dirty="0"/>
              <a:t> </a:t>
            </a:r>
            <a:endParaRPr lang="en-US" dirty="0"/>
          </a:p>
          <a:p>
            <a:pPr lvl="1"/>
            <a:r>
              <a:rPr lang="ru-RU" dirty="0"/>
              <a:t>На </a:t>
            </a:r>
            <a:r>
              <a:rPr lang="en-US" dirty="0"/>
              <a:t>GPU </a:t>
            </a:r>
            <a:r>
              <a:rPr lang="ru-RU" dirty="0"/>
              <a:t>существуют </a:t>
            </a:r>
            <a:r>
              <a:rPr lang="en-US" dirty="0"/>
              <a:t>H2D &amp; D2H engines </a:t>
            </a:r>
            <a:r>
              <a:rPr lang="ru-RU" dirty="0"/>
              <a:t>для передачи в обе стороны</a:t>
            </a:r>
          </a:p>
        </p:txBody>
      </p:sp>
    </p:spTree>
    <p:extLst>
      <p:ext uri="{BB962C8B-B14F-4D97-AF65-F5344CB8AC3E}">
        <p14:creationId xmlns:p14="http://schemas.microsoft.com/office/powerpoint/2010/main" val="622190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30607-7431-4519-B431-30AC7DA8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938283-4F89-45E0-AF65-D7FAD071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19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206B9F-BEE6-4C3F-8D2B-250F32752D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cudaEventCreate</a:t>
            </a:r>
            <a:r>
              <a:rPr lang="en-US" dirty="0"/>
              <a:t>(&amp;event) </a:t>
            </a:r>
          </a:p>
          <a:p>
            <a:pPr lvl="1"/>
            <a:r>
              <a:rPr lang="ru-RU" dirty="0"/>
              <a:t>Создает </a:t>
            </a:r>
            <a:r>
              <a:rPr lang="en-US" dirty="0"/>
              <a:t>event</a:t>
            </a:r>
          </a:p>
          <a:p>
            <a:r>
              <a:rPr lang="en-US" dirty="0" err="1"/>
              <a:t>cudaEventDestroy</a:t>
            </a:r>
            <a:r>
              <a:rPr lang="en-US" dirty="0"/>
              <a:t>(&amp;event) </a:t>
            </a:r>
          </a:p>
          <a:p>
            <a:pPr lvl="1"/>
            <a:r>
              <a:rPr lang="ru-RU" dirty="0"/>
              <a:t>Уничтожает</a:t>
            </a:r>
            <a:r>
              <a:rPr lang="en-US" dirty="0"/>
              <a:t> event </a:t>
            </a:r>
          </a:p>
          <a:p>
            <a:r>
              <a:rPr lang="en-US" dirty="0" err="1"/>
              <a:t>cudaEventCreateWithFlags</a:t>
            </a:r>
            <a:r>
              <a:rPr lang="en-US" dirty="0"/>
              <a:t>(&amp;</a:t>
            </a:r>
            <a:r>
              <a:rPr lang="en-US" dirty="0" err="1"/>
              <a:t>ev</a:t>
            </a:r>
            <a:r>
              <a:rPr lang="en-US" dirty="0"/>
              <a:t>, </a:t>
            </a:r>
            <a:r>
              <a:rPr lang="en-US" dirty="0" err="1"/>
              <a:t>cudaEventDisableTiming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Создает </a:t>
            </a:r>
            <a:r>
              <a:rPr lang="en-US" dirty="0"/>
              <a:t>event </a:t>
            </a:r>
            <a:r>
              <a:rPr lang="ru-RU" dirty="0"/>
              <a:t>без таймера</a:t>
            </a:r>
          </a:p>
          <a:p>
            <a:pPr lvl="1"/>
            <a:r>
              <a:rPr lang="ru-RU" dirty="0"/>
              <a:t>Используется при создании </a:t>
            </a:r>
            <a:r>
              <a:rPr lang="en-US" dirty="0"/>
              <a:t>event</a:t>
            </a:r>
            <a:r>
              <a:rPr lang="ru-RU" dirty="0"/>
              <a:t> для синхронизации </a:t>
            </a:r>
            <a:r>
              <a:rPr lang="en-US" dirty="0"/>
              <a:t>stream</a:t>
            </a:r>
          </a:p>
          <a:p>
            <a:r>
              <a:rPr lang="en-US" dirty="0" err="1"/>
              <a:t>cudaEventRecord</a:t>
            </a:r>
            <a:r>
              <a:rPr lang="en-US" dirty="0"/>
              <a:t>(&amp;event, stream) </a:t>
            </a:r>
          </a:p>
          <a:p>
            <a:pPr lvl="1"/>
            <a:r>
              <a:rPr lang="ru-RU" dirty="0"/>
              <a:t>Запись </a:t>
            </a:r>
            <a:r>
              <a:rPr lang="en-US" dirty="0"/>
              <a:t>event </a:t>
            </a:r>
            <a:r>
              <a:rPr lang="ru-RU" dirty="0"/>
              <a:t>в </a:t>
            </a:r>
            <a:r>
              <a:rPr lang="en-US" dirty="0"/>
              <a:t>stream</a:t>
            </a:r>
            <a:endParaRPr lang="ru-RU" dirty="0"/>
          </a:p>
          <a:p>
            <a:pPr lvl="1"/>
            <a:r>
              <a:rPr lang="ru-RU" dirty="0"/>
              <a:t>Например, для установки «метки» для синхронизации</a:t>
            </a:r>
          </a:p>
        </p:txBody>
      </p:sp>
    </p:spTree>
    <p:extLst>
      <p:ext uri="{BB962C8B-B14F-4D97-AF65-F5344CB8AC3E}">
        <p14:creationId xmlns:p14="http://schemas.microsoft.com/office/powerpoint/2010/main" val="977913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синхронизации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20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726134" y="1628800"/>
            <a:ext cx="7924800" cy="4114800"/>
          </a:xfrm>
        </p:spPr>
        <p:txBody>
          <a:bodyPr/>
          <a:lstStyle/>
          <a:p>
            <a:r>
              <a:rPr lang="ru-RU" dirty="0"/>
              <a:t>Синхронизация с </a:t>
            </a:r>
            <a:r>
              <a:rPr lang="en-US" dirty="0"/>
              <a:t>GPU</a:t>
            </a:r>
          </a:p>
          <a:p>
            <a:pPr lvl="1"/>
            <a:r>
              <a:rPr lang="ru-RU" dirty="0"/>
              <a:t>Управление на </a:t>
            </a:r>
            <a:r>
              <a:rPr lang="en-US" dirty="0"/>
              <a:t>CPU </a:t>
            </a:r>
            <a:r>
              <a:rPr lang="ru-RU" dirty="0"/>
              <a:t>вернется тогда, когда все потоки команд на </a:t>
            </a:r>
            <a:r>
              <a:rPr lang="en-US" dirty="0"/>
              <a:t>GPU </a:t>
            </a:r>
            <a:r>
              <a:rPr lang="ru-RU" dirty="0"/>
              <a:t>закончат работу</a:t>
            </a:r>
          </a:p>
          <a:p>
            <a:pPr lvl="1"/>
            <a:r>
              <a:rPr lang="en-US" dirty="0" err="1"/>
              <a:t>cudaDeviceSynchronize</a:t>
            </a:r>
            <a:r>
              <a:rPr lang="en-US" dirty="0"/>
              <a:t>()</a:t>
            </a:r>
          </a:p>
          <a:p>
            <a:r>
              <a:rPr lang="ru-RU" dirty="0"/>
              <a:t>Синхронизация одного потока команд</a:t>
            </a:r>
          </a:p>
          <a:p>
            <a:pPr lvl="1"/>
            <a:r>
              <a:rPr lang="en-US" dirty="0" err="1"/>
              <a:t>cudaStreamSynchronize</a:t>
            </a:r>
            <a:r>
              <a:rPr lang="en-US" dirty="0"/>
              <a:t> (</a:t>
            </a:r>
            <a:r>
              <a:rPr lang="en-US" dirty="0" err="1"/>
              <a:t>cudaStream_t</a:t>
            </a:r>
            <a:r>
              <a:rPr lang="en-US" dirty="0"/>
              <a:t>  stream )</a:t>
            </a:r>
            <a:r>
              <a:rPr lang="ru-RU" dirty="0"/>
              <a:t>;</a:t>
            </a:r>
          </a:p>
          <a:p>
            <a:r>
              <a:rPr lang="ru-RU" dirty="0"/>
              <a:t>Все </a:t>
            </a:r>
            <a:r>
              <a:rPr lang="en-US" dirty="0" err="1"/>
              <a:t>cuda</a:t>
            </a:r>
            <a:r>
              <a:rPr lang="en-US" dirty="0"/>
              <a:t> </a:t>
            </a:r>
            <a:r>
              <a:rPr lang="ru-RU" dirty="0"/>
              <a:t>операции возвращают один из элементов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cudaError_t</a:t>
            </a:r>
            <a:endParaRPr lang="en-US" dirty="0"/>
          </a:p>
          <a:p>
            <a:pPr lvl="1"/>
            <a:r>
              <a:rPr lang="en-US" dirty="0" err="1"/>
              <a:t>cudaSuccess</a:t>
            </a:r>
            <a:r>
              <a:rPr lang="en-US" dirty="0"/>
              <a:t> </a:t>
            </a:r>
            <a:r>
              <a:rPr lang="ru-RU" dirty="0"/>
              <a:t>в случае успешного исполнения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981788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Unified memory</a:t>
            </a:r>
            <a:r>
              <a:rPr lang="ru-RU" dirty="0"/>
              <a:t>: Общее адресное пространство </a:t>
            </a:r>
            <a:r>
              <a:rPr lang="en-US" dirty="0"/>
              <a:t>CPU </a:t>
            </a:r>
            <a:r>
              <a:rPr lang="en-US" dirty="0">
                <a:sym typeface="Wingdings" panose="05000000000000000000" pitchFamily="2" charset="2"/>
              </a:rPr>
              <a:t> GPU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21</a:t>
            </a:fld>
            <a:endParaRPr lang="ru-RU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5556" y="2492896"/>
            <a:ext cx="7924800" cy="2857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9765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Unified memory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22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Общее пространство памяти</a:t>
            </a:r>
          </a:p>
          <a:p>
            <a:pPr lvl="1"/>
            <a:r>
              <a:rPr lang="ru-RU" dirty="0"/>
              <a:t>Появилось с </a:t>
            </a:r>
            <a:r>
              <a:rPr lang="en-US" dirty="0"/>
              <a:t>CUDA SDK </a:t>
            </a:r>
            <a:r>
              <a:rPr lang="en-US" dirty="0" err="1"/>
              <a:t>ver</a:t>
            </a:r>
            <a:r>
              <a:rPr lang="en-US" dirty="0"/>
              <a:t> 6</a:t>
            </a:r>
            <a:endParaRPr lang="ru-RU" dirty="0"/>
          </a:p>
          <a:p>
            <a:pPr lvl="1"/>
            <a:r>
              <a:rPr lang="ru-RU" dirty="0"/>
              <a:t>К памяти, выделенной как </a:t>
            </a:r>
            <a:r>
              <a:rPr lang="en-US" dirty="0"/>
              <a:t>unified, </a:t>
            </a:r>
            <a:r>
              <a:rPr lang="ru-RU" dirty="0"/>
              <a:t>можно обращаться как с </a:t>
            </a:r>
            <a:r>
              <a:rPr lang="en-US" dirty="0"/>
              <a:t>CPU, </a:t>
            </a:r>
            <a:r>
              <a:rPr lang="ru-RU" dirty="0"/>
              <a:t>так и с </a:t>
            </a:r>
            <a:r>
              <a:rPr lang="en-US" dirty="0"/>
              <a:t>GPU</a:t>
            </a:r>
            <a:endParaRPr lang="ru-RU" dirty="0"/>
          </a:p>
          <a:p>
            <a:pPr lvl="1"/>
            <a:r>
              <a:rPr lang="ru-RU" dirty="0"/>
              <a:t>Драйвер управляет внутренними пересылками памяти</a:t>
            </a:r>
            <a:endParaRPr lang="en-US" dirty="0"/>
          </a:p>
          <a:p>
            <a:r>
              <a:rPr lang="ru-RU" dirty="0"/>
              <a:t>Создание/удаление</a:t>
            </a:r>
          </a:p>
          <a:p>
            <a:pPr lvl="1"/>
            <a:r>
              <a:rPr lang="en-US" dirty="0" err="1"/>
              <a:t>cudaMallocManaged</a:t>
            </a:r>
            <a:endParaRPr lang="en-US" dirty="0"/>
          </a:p>
          <a:p>
            <a:pPr lvl="1"/>
            <a:r>
              <a:rPr lang="en-US" dirty="0" err="1"/>
              <a:t>cudaFree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0665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CUDA Unified memory: </a:t>
            </a:r>
            <a:r>
              <a:rPr lang="ru-RU" dirty="0"/>
              <a:t>Переопределение </a:t>
            </a:r>
            <a:r>
              <a:rPr lang="en-US" dirty="0"/>
              <a:t>new / delete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23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1828463"/>
            <a:ext cx="58143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class Managed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void *operator new(</a:t>
            </a:r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) </a:t>
            </a:r>
          </a:p>
          <a:p>
            <a:r>
              <a:rPr lang="en-US" dirty="0"/>
              <a:t>  {</a:t>
            </a:r>
          </a:p>
          <a:p>
            <a:r>
              <a:rPr lang="en-US" dirty="0"/>
              <a:t>    void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cudaMallocManaged</a:t>
            </a:r>
            <a:r>
              <a:rPr lang="en-US" dirty="0"/>
              <a:t>(&amp;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len</a:t>
            </a:r>
            <a:r>
              <a:rPr lang="en-US" dirty="0"/>
              <a:t>);</a:t>
            </a:r>
          </a:p>
          <a:p>
            <a:r>
              <a:rPr lang="en-US" dirty="0"/>
              <a:t>    return 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void operator delete(void *</a:t>
            </a:r>
            <a:r>
              <a:rPr lang="en-US" dirty="0" err="1"/>
              <a:t>ptr</a:t>
            </a:r>
            <a:r>
              <a:rPr lang="en-US" dirty="0"/>
              <a:t>) </a:t>
            </a:r>
          </a:p>
          <a:p>
            <a:r>
              <a:rPr lang="en-US" dirty="0"/>
              <a:t>  {</a:t>
            </a:r>
          </a:p>
          <a:p>
            <a:r>
              <a:rPr lang="en-US" dirty="0"/>
              <a:t>      </a:t>
            </a:r>
            <a:r>
              <a:rPr lang="en-US" dirty="0" err="1"/>
              <a:t>cudaFree</a:t>
            </a:r>
            <a:r>
              <a:rPr lang="en-US" dirty="0"/>
              <a:t>(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68098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AF03C-8A09-4188-A45F-A87CB7AE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CUDA Unified Memory: </a:t>
            </a:r>
            <a:r>
              <a:rPr lang="ru-RU" dirty="0"/>
              <a:t>Конфигурация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199701-3134-4470-8288-04FA4CFB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24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95579E-6828-4993-BD36-3C6D0372E5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42108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cudaError_t</a:t>
            </a:r>
            <a:r>
              <a:rPr lang="en-US" dirty="0"/>
              <a:t> </a:t>
            </a:r>
            <a:r>
              <a:rPr lang="en-US" dirty="0" err="1"/>
              <a:t>cudaMemAdvise</a:t>
            </a:r>
            <a:r>
              <a:rPr lang="en-US" dirty="0"/>
              <a:t>(const void* 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size, </a:t>
            </a:r>
            <a:r>
              <a:rPr lang="en-US" dirty="0" err="1"/>
              <a:t>cudaMemoryAdvice</a:t>
            </a:r>
            <a:r>
              <a:rPr lang="en-US" dirty="0"/>
              <a:t> advice, int device);</a:t>
            </a:r>
          </a:p>
          <a:p>
            <a:r>
              <a:rPr lang="ru-RU" dirty="0"/>
              <a:t>Значения </a:t>
            </a:r>
            <a:r>
              <a:rPr lang="ru-RU" dirty="0" err="1"/>
              <a:t>advice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cudaMemAdviseSetReadMostly</a:t>
            </a:r>
            <a:r>
              <a:rPr lang="ru-RU" dirty="0"/>
              <a:t> - данное значение задает, что доступ к данной области памяти в основном будет на чтение;</a:t>
            </a:r>
          </a:p>
          <a:p>
            <a:pPr lvl="1"/>
            <a:r>
              <a:rPr lang="ru-RU" dirty="0" err="1"/>
              <a:t>cudaMemAdviseSetPreferredLocation</a:t>
            </a:r>
            <a:r>
              <a:rPr lang="ru-RU" dirty="0"/>
              <a:t> - данное значение задает предпочтительное размещение данного блока в памяти устройства, задаваемого параметрами </a:t>
            </a:r>
            <a:r>
              <a:rPr lang="ru-RU" dirty="0" err="1"/>
              <a:t>device</a:t>
            </a:r>
            <a:r>
              <a:rPr lang="ru-RU" dirty="0"/>
              <a:t>;</a:t>
            </a:r>
          </a:p>
          <a:p>
            <a:pPr lvl="1"/>
            <a:r>
              <a:rPr lang="en-US" dirty="0" err="1"/>
              <a:t>cudaMemAdviseUnsetPreferredLocation</a:t>
            </a:r>
            <a:r>
              <a:rPr lang="en-US" dirty="0"/>
              <a:t> - </a:t>
            </a:r>
            <a:r>
              <a:rPr lang="ru-RU" dirty="0"/>
              <a:t>отменяет </a:t>
            </a:r>
            <a:r>
              <a:rPr lang="en-US" dirty="0" err="1"/>
              <a:t>cudaMemAdviseSetPreferredLocation</a:t>
            </a:r>
            <a:endParaRPr lang="en-US" dirty="0"/>
          </a:p>
          <a:p>
            <a:pPr lvl="1"/>
            <a:r>
              <a:rPr lang="ru-RU" dirty="0" err="1"/>
              <a:t>cudaMemAdviseSetAccessedBy</a:t>
            </a:r>
            <a:r>
              <a:rPr lang="ru-RU" dirty="0"/>
              <a:t> - задает, что к данной области памяти будет идти со стороны устройства </a:t>
            </a:r>
            <a:r>
              <a:rPr lang="ru-RU" dirty="0" err="1"/>
              <a:t>device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9485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F98151-15F6-4707-8A12-5F1874A57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Unified Memory: Prefetch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33A13E9-B28A-4C76-9F2B-DE7577A7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25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CD44E0-0ED8-4510-82B9-E6B69A9A62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cudaError_t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cudaMemPrefetchAsync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size,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device,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stream = 0);</a:t>
            </a:r>
          </a:p>
          <a:p>
            <a:pPr lvl="1"/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Раннее копирование данных</a:t>
            </a:r>
          </a:p>
          <a:p>
            <a:pPr lvl="1"/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Помогает ускорить работу памяти</a:t>
            </a:r>
          </a:p>
          <a:p>
            <a:pPr lvl="1"/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Можно запустить параллельно с 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кернелом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/другой операцией в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stream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359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Unified memory: </a:t>
            </a:r>
            <a:r>
              <a:rPr lang="ru-RU" dirty="0"/>
              <a:t>Пример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26</a:t>
            </a:fld>
            <a:endParaRPr lang="ru-RU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2035277"/>
            <a:ext cx="7924800" cy="324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9367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8B38B-E778-4D73-B566-D64C45CE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Prefetching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E5E2A2-C406-4D8F-973C-83DE0D8B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27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F9685A-7F8A-4FC8-B881-34F5F707C0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Техника ускорения кода/обработки данных</a:t>
            </a:r>
          </a:p>
          <a:p>
            <a:r>
              <a:rPr lang="ru-RU" dirty="0"/>
              <a:t>Две ключевых особенности</a:t>
            </a:r>
          </a:p>
          <a:p>
            <a:pPr lvl="1"/>
            <a:r>
              <a:rPr lang="ru-RU" dirty="0"/>
              <a:t>Разбиение данных на подгруппы</a:t>
            </a:r>
          </a:p>
          <a:p>
            <a:pPr lvl="1"/>
            <a:r>
              <a:rPr lang="ru-RU" dirty="0" err="1"/>
              <a:t>Предзагрузка</a:t>
            </a:r>
            <a:r>
              <a:rPr lang="ru-RU" dirty="0"/>
              <a:t> данных, которые будут востребованы в ближайшее время на устройстве</a:t>
            </a:r>
          </a:p>
        </p:txBody>
      </p:sp>
    </p:spTree>
    <p:extLst>
      <p:ext uri="{BB962C8B-B14F-4D97-AF65-F5344CB8AC3E}">
        <p14:creationId xmlns:p14="http://schemas.microsoft.com/office/powerpoint/2010/main" val="2206392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67899-C0F1-4FBA-B789-0CAA10CC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Prefetch: </a:t>
            </a:r>
            <a:r>
              <a:rPr lang="ru-RU" dirty="0"/>
              <a:t>Пример</a:t>
            </a:r>
            <a:r>
              <a:rPr lang="en-US" dirty="0"/>
              <a:t>. </a:t>
            </a:r>
            <a:r>
              <a:rPr lang="ru-RU" dirty="0"/>
              <a:t>Идентификация девайса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0EB230-20E8-4701-A230-D45AC65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28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56C31B-4AA2-41E8-B0E1-5D8C08EB215C}"/>
              </a:ext>
            </a:extLst>
          </p:cNvPr>
          <p:cNvSpPr/>
          <p:nvPr/>
        </p:nvSpPr>
        <p:spPr>
          <a:xfrm>
            <a:off x="1259632" y="1720840"/>
            <a:ext cx="66967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device;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cudaGetDevice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(&amp;device);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n = 1 &lt;&lt; 25;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 a;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1024 * 128;       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64K items per tile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numTiles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(n +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- 1) /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numRuns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fr-FR" sz="2000" dirty="0">
                <a:solidFill>
                  <a:srgbClr val="A31515"/>
                </a:solidFill>
                <a:latin typeface="Consolas" panose="020B0609020204030204" pitchFamily="49" charset="0"/>
              </a:rPr>
              <a:t>"Device %d\nnumTiles %d\n"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, device, numTiles);</a:t>
            </a:r>
          </a:p>
        </p:txBody>
      </p:sp>
    </p:spTree>
    <p:extLst>
      <p:ext uri="{BB962C8B-B14F-4D97-AF65-F5344CB8AC3E}">
        <p14:creationId xmlns:p14="http://schemas.microsoft.com/office/powerpoint/2010/main" val="4122066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67899-C0F1-4FBA-B789-0CAA10CC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Prefetch: </a:t>
            </a:r>
            <a:r>
              <a:rPr lang="ru-RU" dirty="0"/>
              <a:t>Пример</a:t>
            </a:r>
            <a:r>
              <a:rPr lang="en-US" dirty="0"/>
              <a:t>. </a:t>
            </a:r>
            <a:r>
              <a:rPr lang="ru-RU" dirty="0"/>
              <a:t>Создание очередей команд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0EB230-20E8-4701-A230-D45AC65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29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56C31B-4AA2-41E8-B0E1-5D8C08EB215C}"/>
              </a:ext>
            </a:extLst>
          </p:cNvPr>
          <p:cNvSpPr/>
          <p:nvPr/>
        </p:nvSpPr>
        <p:spPr>
          <a:xfrm>
            <a:off x="1331640" y="1417638"/>
            <a:ext cx="669674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cudaStream_t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s1, s2, s3,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cudaEvent_t     e1, e2, et;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(&amp;s1);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(&amp;s2);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(&amp;s3);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(&amp;e1);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cudaEventCreate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(&amp;e2);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Allocate Unified Memory -- accessible from CPU or GPU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cudaMallocManaged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(&amp;a, n *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initialize array a on the host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n; i++)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1;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50615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67899-C0F1-4FBA-B789-0CAA10CC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Prefetch: </a:t>
            </a:r>
            <a:r>
              <a:rPr lang="ru-RU" dirty="0"/>
              <a:t>Программирование конвейера – начало цикла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0EB230-20E8-4701-A230-D45AC65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30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56C31B-4AA2-41E8-B0E1-5D8C08EB215C}"/>
              </a:ext>
            </a:extLst>
          </p:cNvPr>
          <p:cNvSpPr/>
          <p:nvPr/>
        </p:nvSpPr>
        <p:spPr>
          <a:xfrm>
            <a:off x="755577" y="1720840"/>
            <a:ext cx="751774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prefetch first tile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cudaMemPrefetchAsync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(a,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endParaRPr lang="ru-RU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), 0, s2);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cudaEventRecord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(e1, s2);</a:t>
            </a:r>
          </a:p>
          <a:p>
            <a:endParaRPr lang="ru-RU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numTiles; i++)</a:t>
            </a:r>
          </a:p>
          <a:p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68131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67899-C0F1-4FBA-B789-0CAA10CC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Prefetch: </a:t>
            </a:r>
            <a:r>
              <a:rPr lang="ru-RU" dirty="0"/>
              <a:t>Программирование конвейера – запись и синхронизация событий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0EB230-20E8-4701-A230-D45AC65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31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56C31B-4AA2-41E8-B0E1-5D8C08EB215C}"/>
              </a:ext>
            </a:extLst>
          </p:cNvPr>
          <p:cNvSpPr/>
          <p:nvPr/>
        </p:nvSpPr>
        <p:spPr>
          <a:xfrm>
            <a:off x="755577" y="1720840"/>
            <a:ext cx="751774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make sure previous kernel and current tile copy both completed 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cudaEventSynchronize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(e1);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cudaEventSynchronize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(e2);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run multiple kernels on current tile 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b-NO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b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b-NO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b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 numRuns; j++)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kernel &lt;&lt;&lt;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1024, 1024, 0, s1 &gt;&gt;&gt;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a +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cudaEventRecord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(e1, s1);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74232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67899-C0F1-4FBA-B789-0CAA10CC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Prefetch: </a:t>
            </a:r>
            <a:r>
              <a:rPr lang="ru-RU" dirty="0"/>
              <a:t>Программирование конвейера – ротация </a:t>
            </a:r>
            <a:r>
              <a:rPr lang="ru-RU" dirty="0" err="1"/>
              <a:t>тайлов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0EB230-20E8-4701-A230-D45AC65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32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56C31B-4AA2-41E8-B0E1-5D8C08EB215C}"/>
              </a:ext>
            </a:extLst>
          </p:cNvPr>
          <p:cNvSpPr/>
          <p:nvPr/>
        </p:nvSpPr>
        <p:spPr>
          <a:xfrm>
            <a:off x="1212777" y="1593861"/>
            <a:ext cx="793122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prefetch next tile to the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gpu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in a separate stream 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numTiles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- 1)</a:t>
            </a: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make sure the stream is idle to force non-deferred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HtoD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prefetches first</a:t>
            </a: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cudaStreamSynchronize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(s2);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cudaMemPrefetchAsync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(a +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+ 1),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), 0, s2);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cudaEventRecord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(e2, s2);</a:t>
            </a: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offload current tile to the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cpu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after the kernel is completed using the deferred path 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cudaMemPrefetchAsync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(a +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tileSize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cudaCpuDeviceId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s1);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52216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67899-C0F1-4FBA-B789-0CAA10CC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Prefetch: </a:t>
            </a:r>
            <a:r>
              <a:rPr lang="ru-RU" dirty="0"/>
              <a:t>Программирование конвейера – ротация стримов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0EB230-20E8-4701-A230-D45AC65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33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56C31B-4AA2-41E8-B0E1-5D8C08EB215C}"/>
              </a:ext>
            </a:extLst>
          </p:cNvPr>
          <p:cNvSpPr/>
          <p:nvPr/>
        </p:nvSpPr>
        <p:spPr>
          <a:xfrm>
            <a:off x="1212777" y="1593861"/>
            <a:ext cx="793122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   // rotate streams and swap events 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s1; s1 = s2; s2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s2; s2 = s3; s3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et = e1; e1 = e2; e2 = et;</a:t>
            </a: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end for loop</a:t>
            </a: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Free memory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cudaFree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cudaEventDestroy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(e1);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cudaEventDestroy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(e2);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cudaStreamDestroy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(s1);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cudaStreamDestroy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(s2);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cudaStreamDestroy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(s3);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59959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86325-A183-41E4-8978-7C5FAC47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Профайлинг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B01A9ED-5646-4AD6-A31B-2C636970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34</a:t>
            </a:fld>
            <a:endParaRPr lang="ru-RU"/>
          </a:p>
        </p:txBody>
      </p:sp>
      <p:pic>
        <p:nvPicPr>
          <p:cNvPr id="7" name="Объект 6" descr="Изображение выглядит как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5FC75253-E681-4354-98EB-D9B3BABB7D3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3" y="1342509"/>
            <a:ext cx="8495874" cy="3127309"/>
          </a:xfr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91B27D-F919-44BF-90E2-6ED6188CC11E}"/>
              </a:ext>
            </a:extLst>
          </p:cNvPr>
          <p:cNvSpPr/>
          <p:nvPr/>
        </p:nvSpPr>
        <p:spPr>
          <a:xfrm>
            <a:off x="4385935" y="611391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https://devblogs.nvidia.com/maximizing-unified-memory-performance-cuda/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B3F8A-6E43-4AFB-BD48-BB27FDB85082}"/>
              </a:ext>
            </a:extLst>
          </p:cNvPr>
          <p:cNvSpPr txBox="1"/>
          <p:nvPr/>
        </p:nvSpPr>
        <p:spPr>
          <a:xfrm>
            <a:off x="457200" y="4708542"/>
            <a:ext cx="83632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Prefetch </a:t>
            </a:r>
            <a:r>
              <a:rPr lang="ru-RU" sz="2000" dirty="0"/>
              <a:t>и </a:t>
            </a:r>
            <a:r>
              <a:rPr lang="ru-RU" sz="2000" dirty="0" err="1"/>
              <a:t>кернелы</a:t>
            </a:r>
            <a:r>
              <a:rPr lang="ru-RU" sz="2000" dirty="0"/>
              <a:t> перекрываются по времени = реализация эффективна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Для использования профайлера надо вызвать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cudaDeviceReset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в конце программы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91119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E2B2-C038-45D3-BB7C-FE818CA9DC48}" type="slidenum">
              <a:rPr lang="ru-RU" smtClean="0"/>
              <a:t>35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791881" y="1484784"/>
            <a:ext cx="7924800" cy="482453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Исполнение </a:t>
            </a:r>
            <a:r>
              <a:rPr lang="en-US" dirty="0"/>
              <a:t>kernel </a:t>
            </a:r>
            <a:r>
              <a:rPr lang="ru-RU" dirty="0"/>
              <a:t>и кода на </a:t>
            </a:r>
            <a:r>
              <a:rPr lang="en-US" dirty="0"/>
              <a:t>CPU </a:t>
            </a:r>
            <a:r>
              <a:rPr lang="ru-RU" dirty="0"/>
              <a:t>всегда асинхронно</a:t>
            </a:r>
          </a:p>
          <a:p>
            <a:r>
              <a:rPr lang="ru-RU" dirty="0"/>
              <a:t>Оперативная память</a:t>
            </a:r>
          </a:p>
          <a:p>
            <a:pPr lvl="1"/>
            <a:r>
              <a:rPr lang="ru-RU" dirty="0"/>
              <a:t>Выгружаемая/невыгружаемая (</a:t>
            </a:r>
            <a:r>
              <a:rPr lang="en-US" dirty="0" err="1"/>
              <a:t>pageable</a:t>
            </a:r>
            <a:r>
              <a:rPr lang="en-US" dirty="0"/>
              <a:t> vs pinned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Возможно исполнять параллельно</a:t>
            </a:r>
          </a:p>
          <a:p>
            <a:pPr lvl="1"/>
            <a:r>
              <a:rPr lang="en-US" dirty="0"/>
              <a:t>Kernel</a:t>
            </a:r>
            <a:endParaRPr lang="ru-RU" dirty="0"/>
          </a:p>
          <a:p>
            <a:pPr lvl="1"/>
            <a:r>
              <a:rPr lang="ru-RU" dirty="0"/>
              <a:t>Операции на </a:t>
            </a:r>
            <a:r>
              <a:rPr lang="en-US" dirty="0"/>
              <a:t>CPU</a:t>
            </a:r>
            <a:endParaRPr lang="ru-RU" dirty="0"/>
          </a:p>
          <a:p>
            <a:pPr lvl="1"/>
            <a:r>
              <a:rPr lang="ru-RU" dirty="0"/>
              <a:t>Копирование </a:t>
            </a:r>
            <a:r>
              <a:rPr lang="en-US" dirty="0"/>
              <a:t>pinned =&gt; GPU</a:t>
            </a:r>
          </a:p>
          <a:p>
            <a:pPr lvl="1"/>
            <a:r>
              <a:rPr lang="ru-RU" dirty="0"/>
              <a:t>Копирование </a:t>
            </a:r>
            <a:r>
              <a:rPr lang="en-US" dirty="0"/>
              <a:t>pinned &lt;= GPU</a:t>
            </a:r>
            <a:endParaRPr lang="ru-RU" dirty="0"/>
          </a:p>
          <a:p>
            <a:r>
              <a:rPr lang="en-US" dirty="0"/>
              <a:t>Unified memory</a:t>
            </a:r>
          </a:p>
          <a:p>
            <a:pPr lvl="1"/>
            <a:r>
              <a:rPr lang="ru-RU" dirty="0"/>
              <a:t>Общее адресное пространство </a:t>
            </a:r>
            <a:r>
              <a:rPr lang="en-US" dirty="0"/>
              <a:t>GPU &amp; CPU</a:t>
            </a:r>
          </a:p>
          <a:p>
            <a:pPr lvl="1"/>
            <a:r>
              <a:rPr lang="ru-RU" dirty="0"/>
              <a:t>Упрощает перенос алгоритмов на </a:t>
            </a:r>
            <a:r>
              <a:rPr lang="en-US" dirty="0"/>
              <a:t>GPU</a:t>
            </a:r>
            <a:endParaRPr lang="ru-RU" dirty="0"/>
          </a:p>
          <a:p>
            <a:pPr lvl="1"/>
            <a:r>
              <a:rPr lang="ru-RU" dirty="0" err="1"/>
              <a:t>Тайлинг</a:t>
            </a:r>
            <a:r>
              <a:rPr lang="ru-RU" dirty="0"/>
              <a:t> и </a:t>
            </a:r>
            <a:r>
              <a:rPr lang="ru-RU" dirty="0" err="1"/>
              <a:t>префетчинг</a:t>
            </a:r>
            <a:r>
              <a:rPr lang="ru-RU" dirty="0"/>
              <a:t> позволяют ускорить конвейерную обработку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726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Параллакс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0BF533E0A77AB45A77F20E15B737DD6" ma:contentTypeVersion="11" ma:contentTypeDescription="Создание документа." ma:contentTypeScope="" ma:versionID="26a4b887c6f6d8fce2b223caa13263cb">
  <xsd:schema xmlns:xsd="http://www.w3.org/2001/XMLSchema" xmlns:xs="http://www.w3.org/2001/XMLSchema" xmlns:p="http://schemas.microsoft.com/office/2006/metadata/properties" xmlns:ns2="c686454d-4b00-4afd-8a9a-f6e3ef5a2f2d" xmlns:ns3="1115709b-671a-45d8-b9b3-34c016432ae0" targetNamespace="http://schemas.microsoft.com/office/2006/metadata/properties" ma:root="true" ma:fieldsID="f154708f666e80dd0b955266659c16b4" ns2:_="" ns3:_="">
    <xsd:import namespace="c686454d-4b00-4afd-8a9a-f6e3ef5a2f2d"/>
    <xsd:import namespace="1115709b-671a-45d8-b9b3-34c016432a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6454d-4b00-4afd-8a9a-f6e3ef5a2f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29946b41-6c66-4272-bf9b-6580a4b682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15709b-671a-45d8-b9b3-34c016432ae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5cb82ff-975f-4924-9c40-887afd7ec801}" ma:internalName="TaxCatchAll" ma:showField="CatchAllData" ma:web="1115709b-671a-45d8-b9b3-34c016432a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86454d-4b00-4afd-8a9a-f6e3ef5a2f2d">
      <Terms xmlns="http://schemas.microsoft.com/office/infopath/2007/PartnerControls"/>
    </lcf76f155ced4ddcb4097134ff3c332f>
    <TaxCatchAll xmlns="1115709b-671a-45d8-b9b3-34c016432ae0" xsi:nil="true"/>
  </documentManagement>
</p:properties>
</file>

<file path=customXml/itemProps1.xml><?xml version="1.0" encoding="utf-8"?>
<ds:datastoreItem xmlns:ds="http://schemas.openxmlformats.org/officeDocument/2006/customXml" ds:itemID="{7F11E759-8B6C-47B1-878C-44ACDBBAA3C0}"/>
</file>

<file path=customXml/itemProps2.xml><?xml version="1.0" encoding="utf-8"?>
<ds:datastoreItem xmlns:ds="http://schemas.openxmlformats.org/officeDocument/2006/customXml" ds:itemID="{456D1785-05E4-4803-AC1D-5EF86A6D84CC}"/>
</file>

<file path=customXml/itemProps3.xml><?xml version="1.0" encoding="utf-8"?>
<ds:datastoreItem xmlns:ds="http://schemas.openxmlformats.org/officeDocument/2006/customXml" ds:itemID="{F32411C9-B594-4A95-AE3C-78F62C618B02}"/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TM03457496[[fn=Параллакс]]</Template>
  <TotalTime>1139</TotalTime>
  <Words>2034</Words>
  <Application>Microsoft Office PowerPoint</Application>
  <PresentationFormat>Экран (4:3)</PresentationFormat>
  <Paragraphs>349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Arial</vt:lpstr>
      <vt:lpstr>Calibri</vt:lpstr>
      <vt:lpstr>Consolas</vt:lpstr>
      <vt:lpstr>Corbel</vt:lpstr>
      <vt:lpstr>Параллакс</vt:lpstr>
      <vt:lpstr>Графические процессоры для вычислений общего назначения</vt:lpstr>
      <vt:lpstr>Содержание</vt:lpstr>
      <vt:lpstr>GPU для вычислений Общего назначения</vt:lpstr>
      <vt:lpstr>Архитектура GPU</vt:lpstr>
      <vt:lpstr>Программа на GPU</vt:lpstr>
      <vt:lpstr>Параметры Kernel</vt:lpstr>
      <vt:lpstr>Выделение памяти с помощью CUDA</vt:lpstr>
      <vt:lpstr>Выделение невыгружаемой CPU памяти</vt:lpstr>
      <vt:lpstr>Механизм передачи данных между CPU &amp; GPU</vt:lpstr>
      <vt:lpstr>Копирование памяти</vt:lpstr>
      <vt:lpstr>Асинхронные операции с памятью</vt:lpstr>
      <vt:lpstr>Асинхронные операции с памятью (2)</vt:lpstr>
      <vt:lpstr>Поток исполнения команд GPU</vt:lpstr>
      <vt:lpstr>Асинхронное исполнение операций</vt:lpstr>
      <vt:lpstr>Проверка свойств CUDA устройства</vt:lpstr>
      <vt:lpstr>CUDA asyncEngineCount</vt:lpstr>
      <vt:lpstr>Асинхронное исполнение Операций на GPU</vt:lpstr>
      <vt:lpstr>Асинхронное исполнение Операций на GPU: Профайлинг</vt:lpstr>
      <vt:lpstr>Events</vt:lpstr>
      <vt:lpstr>Инструменты синхронизации</vt:lpstr>
      <vt:lpstr>Unified memory: Общее адресное пространство CPU  GPU</vt:lpstr>
      <vt:lpstr>CUDA Unified memory</vt:lpstr>
      <vt:lpstr>CUDA Unified memory: Переопределение new / delete</vt:lpstr>
      <vt:lpstr>CUDA Unified Memory: Конфигурация</vt:lpstr>
      <vt:lpstr>CUDA Unified Memory: Prefetch</vt:lpstr>
      <vt:lpstr>CUDA Unified memory: Пример</vt:lpstr>
      <vt:lpstr>Prefetching</vt:lpstr>
      <vt:lpstr>Prefetch: Пример. Идентификация девайса</vt:lpstr>
      <vt:lpstr>Prefetch: Пример. Создание очередей команд</vt:lpstr>
      <vt:lpstr>Prefetch: Программирование конвейера – начало цикла</vt:lpstr>
      <vt:lpstr>Prefetch: Программирование конвейера – запись и синхронизация событий</vt:lpstr>
      <vt:lpstr>Prefetch: Программирование конвейера – ротация тайлов</vt:lpstr>
      <vt:lpstr>Prefetch: Программирование конвейера – ротация стримов</vt:lpstr>
      <vt:lpstr>Профайлинг</vt:lpstr>
      <vt:lpstr>Заключение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Графические процессоры для задач общего назначения</dc:title>
  <dc:creator>Kauter</dc:creator>
  <cp:lastModifiedBy>Вячеслав Чуканов</cp:lastModifiedBy>
  <cp:revision>68</cp:revision>
  <dcterms:created xsi:type="dcterms:W3CDTF">2014-09-20T14:26:51Z</dcterms:created>
  <dcterms:modified xsi:type="dcterms:W3CDTF">2022-03-22T08:15:46Z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0x010100D0BF533E0A77AB45A77F20E15B737DD6</vt:lpwstr>
  </property>
</Properties>
</file>